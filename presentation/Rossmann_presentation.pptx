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6" r:id="rId11"/>
    <p:sldId id="27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173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562" autoAdjust="0"/>
  </p:normalViewPr>
  <p:slideViewPr>
    <p:cSldViewPr snapToGrid="0" snapToObjects="1">
      <p:cViewPr varScale="1">
        <p:scale>
          <a:sx n="78" d="100"/>
          <a:sy n="78" d="100"/>
        </p:scale>
        <p:origin x="120" y="10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58CB42-FCDF-4249-AC9B-EA3492341BA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E1D3047C-70D7-48C2-9995-300EE364EED8}">
      <dgm:prSet custT="1"/>
      <dgm:spPr/>
      <dgm:t>
        <a:bodyPr/>
        <a:lstStyle/>
        <a:p>
          <a:r>
            <a:rPr lang="pl-PL" sz="1400" b="1" dirty="0"/>
            <a:t>Surowe dane</a:t>
          </a:r>
        </a:p>
      </dgm:t>
    </dgm:pt>
    <dgm:pt modelId="{EA6C70CA-2DE7-4198-92EA-F4A034905BF2}" type="parTrans" cxnId="{9AB3254F-22A1-4958-910D-C77A86F51246}">
      <dgm:prSet/>
      <dgm:spPr/>
      <dgm:t>
        <a:bodyPr/>
        <a:lstStyle/>
        <a:p>
          <a:endParaRPr lang="pl-PL"/>
        </a:p>
      </dgm:t>
    </dgm:pt>
    <dgm:pt modelId="{6A072734-9C60-4C1C-B891-BDF52CE64978}" type="sibTrans" cxnId="{9AB3254F-22A1-4958-910D-C77A86F51246}">
      <dgm:prSet/>
      <dgm:spPr/>
      <dgm:t>
        <a:bodyPr/>
        <a:lstStyle/>
        <a:p>
          <a:endParaRPr lang="pl-PL"/>
        </a:p>
      </dgm:t>
    </dgm:pt>
    <dgm:pt modelId="{8E14F4B6-CEAB-41CE-BA13-5D0151D038A3}">
      <dgm:prSet custT="1"/>
      <dgm:spPr/>
      <dgm:t>
        <a:bodyPr/>
        <a:lstStyle/>
        <a:p>
          <a:r>
            <a:rPr lang="pl-PL" sz="1100" b="1" dirty="0" err="1"/>
            <a:t>ColumnTransformer</a:t>
          </a:r>
          <a:endParaRPr lang="pl-PL" sz="1100" b="1" dirty="0"/>
        </a:p>
      </dgm:t>
    </dgm:pt>
    <dgm:pt modelId="{7D77E3D3-3EA6-4B1D-86D7-29A4AB290D7B}" type="parTrans" cxnId="{40AB1BCF-ACA4-4086-BE8C-FF9C2C197642}">
      <dgm:prSet/>
      <dgm:spPr/>
      <dgm:t>
        <a:bodyPr/>
        <a:lstStyle/>
        <a:p>
          <a:endParaRPr lang="pl-PL"/>
        </a:p>
      </dgm:t>
    </dgm:pt>
    <dgm:pt modelId="{56111592-4C3B-41CC-819C-D172EE1AC3A4}" type="sibTrans" cxnId="{40AB1BCF-ACA4-4086-BE8C-FF9C2C197642}">
      <dgm:prSet/>
      <dgm:spPr/>
      <dgm:t>
        <a:bodyPr/>
        <a:lstStyle/>
        <a:p>
          <a:endParaRPr lang="pl-PL"/>
        </a:p>
      </dgm:t>
    </dgm:pt>
    <dgm:pt modelId="{D9A7B35A-C1C0-48BB-9C47-07880F7DF7B6}">
      <dgm:prSet custT="1"/>
      <dgm:spPr/>
      <dgm:t>
        <a:bodyPr/>
        <a:lstStyle/>
        <a:p>
          <a:r>
            <a:rPr lang="pl-PL" sz="1400" b="1" dirty="0"/>
            <a:t>Dane po transformacji</a:t>
          </a:r>
        </a:p>
      </dgm:t>
    </dgm:pt>
    <dgm:pt modelId="{10810329-12D5-4F30-8DCB-2FE47A5FB3F6}" type="parTrans" cxnId="{1C49D8EB-2C59-4388-8E29-3912889C00B9}">
      <dgm:prSet/>
      <dgm:spPr/>
      <dgm:t>
        <a:bodyPr/>
        <a:lstStyle/>
        <a:p>
          <a:endParaRPr lang="pl-PL"/>
        </a:p>
      </dgm:t>
    </dgm:pt>
    <dgm:pt modelId="{897D3EDC-79C8-4B8C-AF49-5A70706F5A02}" type="sibTrans" cxnId="{1C49D8EB-2C59-4388-8E29-3912889C00B9}">
      <dgm:prSet/>
      <dgm:spPr/>
      <dgm:t>
        <a:bodyPr/>
        <a:lstStyle/>
        <a:p>
          <a:endParaRPr lang="pl-PL"/>
        </a:p>
      </dgm:t>
    </dgm:pt>
    <dgm:pt modelId="{506E0B4E-6495-4B08-B010-3A8A4A26EFBD}">
      <dgm:prSet custT="1"/>
      <dgm:spPr/>
      <dgm:t>
        <a:bodyPr/>
        <a:lstStyle/>
        <a:p>
          <a:r>
            <a:rPr lang="pl-PL" sz="1400" b="1" dirty="0"/>
            <a:t>Model ML</a:t>
          </a:r>
        </a:p>
      </dgm:t>
    </dgm:pt>
    <dgm:pt modelId="{052077E3-86AF-4D44-9BFB-FC7FD76B5416}" type="parTrans" cxnId="{5FA7DE98-6F39-42A9-AC9C-722C27CDFD48}">
      <dgm:prSet/>
      <dgm:spPr/>
      <dgm:t>
        <a:bodyPr/>
        <a:lstStyle/>
        <a:p>
          <a:endParaRPr lang="pl-PL"/>
        </a:p>
      </dgm:t>
    </dgm:pt>
    <dgm:pt modelId="{29233EC4-F6FB-43EF-9003-E937AF0E93C6}" type="sibTrans" cxnId="{5FA7DE98-6F39-42A9-AC9C-722C27CDFD48}">
      <dgm:prSet/>
      <dgm:spPr/>
      <dgm:t>
        <a:bodyPr/>
        <a:lstStyle/>
        <a:p>
          <a:endParaRPr lang="pl-PL"/>
        </a:p>
      </dgm:t>
    </dgm:pt>
    <dgm:pt modelId="{2F8BBEE7-7113-463D-907A-31A102142F62}" type="pres">
      <dgm:prSet presAssocID="{EA58CB42-FCDF-4249-AC9B-EA3492341BA0}" presName="Name0" presStyleCnt="0">
        <dgm:presLayoutVars>
          <dgm:dir/>
          <dgm:resizeHandles val="exact"/>
        </dgm:presLayoutVars>
      </dgm:prSet>
      <dgm:spPr/>
    </dgm:pt>
    <dgm:pt modelId="{F911CD62-1B3F-4078-9C67-C626FA13AA70}" type="pres">
      <dgm:prSet presAssocID="{E1D3047C-70D7-48C2-9995-300EE364EED8}" presName="node" presStyleLbl="node1" presStyleIdx="0" presStyleCnt="4">
        <dgm:presLayoutVars>
          <dgm:bulletEnabled val="1"/>
        </dgm:presLayoutVars>
      </dgm:prSet>
      <dgm:spPr/>
    </dgm:pt>
    <dgm:pt modelId="{1A7068DA-082D-4D14-B80A-35CAAC15277D}" type="pres">
      <dgm:prSet presAssocID="{6A072734-9C60-4C1C-B891-BDF52CE64978}" presName="sibTrans" presStyleLbl="sibTrans2D1" presStyleIdx="0" presStyleCnt="3"/>
      <dgm:spPr/>
    </dgm:pt>
    <dgm:pt modelId="{DC8FFEF2-3588-447B-9F3B-EC50E9EA8C94}" type="pres">
      <dgm:prSet presAssocID="{6A072734-9C60-4C1C-B891-BDF52CE64978}" presName="connectorText" presStyleLbl="sibTrans2D1" presStyleIdx="0" presStyleCnt="3"/>
      <dgm:spPr/>
    </dgm:pt>
    <dgm:pt modelId="{5BA9C90C-523C-4B40-9054-987BAD907DE4}" type="pres">
      <dgm:prSet presAssocID="{8E14F4B6-CEAB-41CE-BA13-5D0151D038A3}" presName="node" presStyleLbl="node1" presStyleIdx="1" presStyleCnt="4" custLinFactNeighborX="6404" custLinFactNeighborY="1434">
        <dgm:presLayoutVars>
          <dgm:bulletEnabled val="1"/>
        </dgm:presLayoutVars>
      </dgm:prSet>
      <dgm:spPr/>
    </dgm:pt>
    <dgm:pt modelId="{7A9EFA39-774B-4BA6-AB61-BAE6027BCDAB}" type="pres">
      <dgm:prSet presAssocID="{56111592-4C3B-41CC-819C-D172EE1AC3A4}" presName="sibTrans" presStyleLbl="sibTrans2D1" presStyleIdx="1" presStyleCnt="3"/>
      <dgm:spPr/>
    </dgm:pt>
    <dgm:pt modelId="{4D2E3D0A-7986-4286-8062-3E6EC7D0718F}" type="pres">
      <dgm:prSet presAssocID="{56111592-4C3B-41CC-819C-D172EE1AC3A4}" presName="connectorText" presStyleLbl="sibTrans2D1" presStyleIdx="1" presStyleCnt="3"/>
      <dgm:spPr/>
    </dgm:pt>
    <dgm:pt modelId="{6E949AEA-8BFE-4A74-B75C-836DEA594D1E}" type="pres">
      <dgm:prSet presAssocID="{D9A7B35A-C1C0-48BB-9C47-07880F7DF7B6}" presName="node" presStyleLbl="node1" presStyleIdx="2" presStyleCnt="4">
        <dgm:presLayoutVars>
          <dgm:bulletEnabled val="1"/>
        </dgm:presLayoutVars>
      </dgm:prSet>
      <dgm:spPr/>
    </dgm:pt>
    <dgm:pt modelId="{40F13423-0C88-4AE1-973A-CDBC3B55A9AE}" type="pres">
      <dgm:prSet presAssocID="{897D3EDC-79C8-4B8C-AF49-5A70706F5A02}" presName="sibTrans" presStyleLbl="sibTrans2D1" presStyleIdx="2" presStyleCnt="3"/>
      <dgm:spPr/>
    </dgm:pt>
    <dgm:pt modelId="{041F3D8F-6B5A-4681-A03A-C36A503EE5ED}" type="pres">
      <dgm:prSet presAssocID="{897D3EDC-79C8-4B8C-AF49-5A70706F5A02}" presName="connectorText" presStyleLbl="sibTrans2D1" presStyleIdx="2" presStyleCnt="3"/>
      <dgm:spPr/>
    </dgm:pt>
    <dgm:pt modelId="{AAC82326-0154-40ED-86E6-D216D74D5E8D}" type="pres">
      <dgm:prSet presAssocID="{506E0B4E-6495-4B08-B010-3A8A4A26EFBD}" presName="node" presStyleLbl="node1" presStyleIdx="3" presStyleCnt="4">
        <dgm:presLayoutVars>
          <dgm:bulletEnabled val="1"/>
        </dgm:presLayoutVars>
      </dgm:prSet>
      <dgm:spPr/>
    </dgm:pt>
  </dgm:ptLst>
  <dgm:cxnLst>
    <dgm:cxn modelId="{25853701-4A92-48EB-8B1B-7F7B81C39306}" type="presOf" srcId="{6A072734-9C60-4C1C-B891-BDF52CE64978}" destId="{1A7068DA-082D-4D14-B80A-35CAAC15277D}" srcOrd="0" destOrd="0" presId="urn:microsoft.com/office/officeart/2005/8/layout/process1"/>
    <dgm:cxn modelId="{B5FB2519-60B7-43F1-81A9-CA0452F9EAAB}" type="presOf" srcId="{8E14F4B6-CEAB-41CE-BA13-5D0151D038A3}" destId="{5BA9C90C-523C-4B40-9054-987BAD907DE4}" srcOrd="0" destOrd="0" presId="urn:microsoft.com/office/officeart/2005/8/layout/process1"/>
    <dgm:cxn modelId="{7BF7201E-0DBC-4A9C-B0A6-59D37662330F}" type="presOf" srcId="{6A072734-9C60-4C1C-B891-BDF52CE64978}" destId="{DC8FFEF2-3588-447B-9F3B-EC50E9EA8C94}" srcOrd="1" destOrd="0" presId="urn:microsoft.com/office/officeart/2005/8/layout/process1"/>
    <dgm:cxn modelId="{2FF40721-CD6D-42BF-97D8-A36169F3A73C}" type="presOf" srcId="{D9A7B35A-C1C0-48BB-9C47-07880F7DF7B6}" destId="{6E949AEA-8BFE-4A74-B75C-836DEA594D1E}" srcOrd="0" destOrd="0" presId="urn:microsoft.com/office/officeart/2005/8/layout/process1"/>
    <dgm:cxn modelId="{DE6D2E38-7046-4B2B-8E6E-9A71E0D027E4}" type="presOf" srcId="{E1D3047C-70D7-48C2-9995-300EE364EED8}" destId="{F911CD62-1B3F-4078-9C67-C626FA13AA70}" srcOrd="0" destOrd="0" presId="urn:microsoft.com/office/officeart/2005/8/layout/process1"/>
    <dgm:cxn modelId="{5650B642-68F9-47F8-B9EB-C57AD6AB054F}" type="presOf" srcId="{897D3EDC-79C8-4B8C-AF49-5A70706F5A02}" destId="{041F3D8F-6B5A-4681-A03A-C36A503EE5ED}" srcOrd="1" destOrd="0" presId="urn:microsoft.com/office/officeart/2005/8/layout/process1"/>
    <dgm:cxn modelId="{977B3B65-B5C4-4051-8EC9-F6E417B1DDC9}" type="presOf" srcId="{56111592-4C3B-41CC-819C-D172EE1AC3A4}" destId="{7A9EFA39-774B-4BA6-AB61-BAE6027BCDAB}" srcOrd="0" destOrd="0" presId="urn:microsoft.com/office/officeart/2005/8/layout/process1"/>
    <dgm:cxn modelId="{7523F065-1220-43F3-B6B6-3597CBE90F2E}" type="presOf" srcId="{EA58CB42-FCDF-4249-AC9B-EA3492341BA0}" destId="{2F8BBEE7-7113-463D-907A-31A102142F62}" srcOrd="0" destOrd="0" presId="urn:microsoft.com/office/officeart/2005/8/layout/process1"/>
    <dgm:cxn modelId="{9AB3254F-22A1-4958-910D-C77A86F51246}" srcId="{EA58CB42-FCDF-4249-AC9B-EA3492341BA0}" destId="{E1D3047C-70D7-48C2-9995-300EE364EED8}" srcOrd="0" destOrd="0" parTransId="{EA6C70CA-2DE7-4198-92EA-F4A034905BF2}" sibTransId="{6A072734-9C60-4C1C-B891-BDF52CE64978}"/>
    <dgm:cxn modelId="{52A7B681-B55F-4C55-B1F2-68E5B7751986}" type="presOf" srcId="{56111592-4C3B-41CC-819C-D172EE1AC3A4}" destId="{4D2E3D0A-7986-4286-8062-3E6EC7D0718F}" srcOrd="1" destOrd="0" presId="urn:microsoft.com/office/officeart/2005/8/layout/process1"/>
    <dgm:cxn modelId="{CD9B308F-FDC5-45AD-8C60-1084CCB03F2D}" type="presOf" srcId="{897D3EDC-79C8-4B8C-AF49-5A70706F5A02}" destId="{40F13423-0C88-4AE1-973A-CDBC3B55A9AE}" srcOrd="0" destOrd="0" presId="urn:microsoft.com/office/officeart/2005/8/layout/process1"/>
    <dgm:cxn modelId="{5FA7DE98-6F39-42A9-AC9C-722C27CDFD48}" srcId="{EA58CB42-FCDF-4249-AC9B-EA3492341BA0}" destId="{506E0B4E-6495-4B08-B010-3A8A4A26EFBD}" srcOrd="3" destOrd="0" parTransId="{052077E3-86AF-4D44-9BFB-FC7FD76B5416}" sibTransId="{29233EC4-F6FB-43EF-9003-E937AF0E93C6}"/>
    <dgm:cxn modelId="{40AB1BCF-ACA4-4086-BE8C-FF9C2C197642}" srcId="{EA58CB42-FCDF-4249-AC9B-EA3492341BA0}" destId="{8E14F4B6-CEAB-41CE-BA13-5D0151D038A3}" srcOrd="1" destOrd="0" parTransId="{7D77E3D3-3EA6-4B1D-86D7-29A4AB290D7B}" sibTransId="{56111592-4C3B-41CC-819C-D172EE1AC3A4}"/>
    <dgm:cxn modelId="{3FCE41D5-EA1C-4408-820B-DB54B6E4BFBB}" type="presOf" srcId="{506E0B4E-6495-4B08-B010-3A8A4A26EFBD}" destId="{AAC82326-0154-40ED-86E6-D216D74D5E8D}" srcOrd="0" destOrd="0" presId="urn:microsoft.com/office/officeart/2005/8/layout/process1"/>
    <dgm:cxn modelId="{1C49D8EB-2C59-4388-8E29-3912889C00B9}" srcId="{EA58CB42-FCDF-4249-AC9B-EA3492341BA0}" destId="{D9A7B35A-C1C0-48BB-9C47-07880F7DF7B6}" srcOrd="2" destOrd="0" parTransId="{10810329-12D5-4F30-8DCB-2FE47A5FB3F6}" sibTransId="{897D3EDC-79C8-4B8C-AF49-5A70706F5A02}"/>
    <dgm:cxn modelId="{8D043255-89C4-46A5-8AA1-698EA93CDFF1}" type="presParOf" srcId="{2F8BBEE7-7113-463D-907A-31A102142F62}" destId="{F911CD62-1B3F-4078-9C67-C626FA13AA70}" srcOrd="0" destOrd="0" presId="urn:microsoft.com/office/officeart/2005/8/layout/process1"/>
    <dgm:cxn modelId="{AA2B3D85-9E7A-4326-A3D6-86ABA15C1C77}" type="presParOf" srcId="{2F8BBEE7-7113-463D-907A-31A102142F62}" destId="{1A7068DA-082D-4D14-B80A-35CAAC15277D}" srcOrd="1" destOrd="0" presId="urn:microsoft.com/office/officeart/2005/8/layout/process1"/>
    <dgm:cxn modelId="{25974CE0-6F58-41B0-8D94-D7A154865EEF}" type="presParOf" srcId="{1A7068DA-082D-4D14-B80A-35CAAC15277D}" destId="{DC8FFEF2-3588-447B-9F3B-EC50E9EA8C94}" srcOrd="0" destOrd="0" presId="urn:microsoft.com/office/officeart/2005/8/layout/process1"/>
    <dgm:cxn modelId="{2877068D-EAAE-4FB5-8742-9EFEA16B68A6}" type="presParOf" srcId="{2F8BBEE7-7113-463D-907A-31A102142F62}" destId="{5BA9C90C-523C-4B40-9054-987BAD907DE4}" srcOrd="2" destOrd="0" presId="urn:microsoft.com/office/officeart/2005/8/layout/process1"/>
    <dgm:cxn modelId="{90C94007-37ED-435E-95B8-F7DA04063412}" type="presParOf" srcId="{2F8BBEE7-7113-463D-907A-31A102142F62}" destId="{7A9EFA39-774B-4BA6-AB61-BAE6027BCDAB}" srcOrd="3" destOrd="0" presId="urn:microsoft.com/office/officeart/2005/8/layout/process1"/>
    <dgm:cxn modelId="{6E0FE2AE-3AC6-4E41-BCDE-0EDFB3BE745E}" type="presParOf" srcId="{7A9EFA39-774B-4BA6-AB61-BAE6027BCDAB}" destId="{4D2E3D0A-7986-4286-8062-3E6EC7D0718F}" srcOrd="0" destOrd="0" presId="urn:microsoft.com/office/officeart/2005/8/layout/process1"/>
    <dgm:cxn modelId="{3506F600-8981-4075-9F5C-7B1C622E64BA}" type="presParOf" srcId="{2F8BBEE7-7113-463D-907A-31A102142F62}" destId="{6E949AEA-8BFE-4A74-B75C-836DEA594D1E}" srcOrd="4" destOrd="0" presId="urn:microsoft.com/office/officeart/2005/8/layout/process1"/>
    <dgm:cxn modelId="{A9704434-5677-48D0-9DCE-CB2BB5CDDBB7}" type="presParOf" srcId="{2F8BBEE7-7113-463D-907A-31A102142F62}" destId="{40F13423-0C88-4AE1-973A-CDBC3B55A9AE}" srcOrd="5" destOrd="0" presId="urn:microsoft.com/office/officeart/2005/8/layout/process1"/>
    <dgm:cxn modelId="{B090FC32-CB50-4380-94DB-2901F08CFEA9}" type="presParOf" srcId="{40F13423-0C88-4AE1-973A-CDBC3B55A9AE}" destId="{041F3D8F-6B5A-4681-A03A-C36A503EE5ED}" srcOrd="0" destOrd="0" presId="urn:microsoft.com/office/officeart/2005/8/layout/process1"/>
    <dgm:cxn modelId="{28411089-A534-4F3E-B3AA-4C45994E0D65}" type="presParOf" srcId="{2F8BBEE7-7113-463D-907A-31A102142F62}" destId="{AAC82326-0154-40ED-86E6-D216D74D5E8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11CD62-1B3F-4078-9C67-C626FA13AA70}">
      <dsp:nvSpPr>
        <dsp:cNvPr id="0" name=""/>
        <dsp:cNvSpPr/>
      </dsp:nvSpPr>
      <dsp:spPr>
        <a:xfrm>
          <a:off x="3083" y="1206453"/>
          <a:ext cx="1348262" cy="808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1" kern="1200" dirty="0"/>
            <a:t>Surowe dane</a:t>
          </a:r>
        </a:p>
      </dsp:txBody>
      <dsp:txXfrm>
        <a:off x="26777" y="1230147"/>
        <a:ext cx="1300874" cy="761569"/>
      </dsp:txXfrm>
    </dsp:sp>
    <dsp:sp modelId="{1A7068DA-082D-4D14-B80A-35CAAC15277D}">
      <dsp:nvSpPr>
        <dsp:cNvPr id="0" name=""/>
        <dsp:cNvSpPr/>
      </dsp:nvSpPr>
      <dsp:spPr>
        <a:xfrm rot="20748">
          <a:off x="1494804" y="1449600"/>
          <a:ext cx="304141" cy="3343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400" kern="1200"/>
        </a:p>
      </dsp:txBody>
      <dsp:txXfrm>
        <a:off x="1494805" y="1516199"/>
        <a:ext cx="212899" cy="200621"/>
      </dsp:txXfrm>
    </dsp:sp>
    <dsp:sp modelId="{5BA9C90C-523C-4B40-9054-987BAD907DE4}">
      <dsp:nvSpPr>
        <dsp:cNvPr id="0" name=""/>
        <dsp:cNvSpPr/>
      </dsp:nvSpPr>
      <dsp:spPr>
        <a:xfrm>
          <a:off x="1925188" y="1218054"/>
          <a:ext cx="1348262" cy="808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100" b="1" kern="1200" dirty="0" err="1"/>
            <a:t>ColumnTransformer</a:t>
          </a:r>
          <a:endParaRPr lang="pl-PL" sz="1100" b="1" kern="1200" dirty="0"/>
        </a:p>
      </dsp:txBody>
      <dsp:txXfrm>
        <a:off x="1948882" y="1241748"/>
        <a:ext cx="1300874" cy="761569"/>
      </dsp:txXfrm>
    </dsp:sp>
    <dsp:sp modelId="{7A9EFA39-774B-4BA6-AB61-BAE6027BCDAB}">
      <dsp:nvSpPr>
        <dsp:cNvPr id="0" name=""/>
        <dsp:cNvSpPr/>
      </dsp:nvSpPr>
      <dsp:spPr>
        <a:xfrm rot="21578479">
          <a:off x="3399640" y="1449500"/>
          <a:ext cx="267532" cy="3343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400" kern="1200"/>
        </a:p>
      </dsp:txBody>
      <dsp:txXfrm>
        <a:off x="3399641" y="1516625"/>
        <a:ext cx="187272" cy="200621"/>
      </dsp:txXfrm>
    </dsp:sp>
    <dsp:sp modelId="{6E949AEA-8BFE-4A74-B75C-836DEA594D1E}">
      <dsp:nvSpPr>
        <dsp:cNvPr id="0" name=""/>
        <dsp:cNvSpPr/>
      </dsp:nvSpPr>
      <dsp:spPr>
        <a:xfrm>
          <a:off x="3778219" y="1206453"/>
          <a:ext cx="1348262" cy="808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1" kern="1200" dirty="0"/>
            <a:t>Dane po transformacji</a:t>
          </a:r>
        </a:p>
      </dsp:txBody>
      <dsp:txXfrm>
        <a:off x="3801913" y="1230147"/>
        <a:ext cx="1300874" cy="761569"/>
      </dsp:txXfrm>
    </dsp:sp>
    <dsp:sp modelId="{40F13423-0C88-4AE1-973A-CDBC3B55A9AE}">
      <dsp:nvSpPr>
        <dsp:cNvPr id="0" name=""/>
        <dsp:cNvSpPr/>
      </dsp:nvSpPr>
      <dsp:spPr>
        <a:xfrm>
          <a:off x="5261307" y="1443747"/>
          <a:ext cx="285831" cy="3343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400" kern="1200"/>
        </a:p>
      </dsp:txBody>
      <dsp:txXfrm>
        <a:off x="5261307" y="1510621"/>
        <a:ext cx="200082" cy="200621"/>
      </dsp:txXfrm>
    </dsp:sp>
    <dsp:sp modelId="{AAC82326-0154-40ED-86E6-D216D74D5E8D}">
      <dsp:nvSpPr>
        <dsp:cNvPr id="0" name=""/>
        <dsp:cNvSpPr/>
      </dsp:nvSpPr>
      <dsp:spPr>
        <a:xfrm>
          <a:off x="5665786" y="1206453"/>
          <a:ext cx="1348262" cy="808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1" kern="1200" dirty="0"/>
            <a:t>Model ML</a:t>
          </a:r>
        </a:p>
      </dsp:txBody>
      <dsp:txXfrm>
        <a:off x="5689480" y="1230147"/>
        <a:ext cx="1300874" cy="7615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F6428-01B2-4553-BA04-947D506BB632}" type="datetimeFigureOut">
              <a:rPr lang="pl-PL" smtClean="0"/>
              <a:t>01.08.2026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95FDD-6113-40F9-B104-49A78CEF58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84760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Problem biznesowy - brak dokładnych prognoz sprzedaży powoduje zarówno braki towarów w okresach zwiększonego popytu, jak i nadmierne zapasy w spokojniejszych okresach. W obu przypadkach przekłada się to na wyższe koszty i mniej efektywne zarządzanie magazynem.</a:t>
            </a:r>
          </a:p>
          <a:p>
            <a:endParaRPr lang="pl-PL" dirty="0"/>
          </a:p>
          <a:p>
            <a:r>
              <a:rPr lang="pl-PL" dirty="0"/>
              <a:t>Celem naszego projektu było stworzenie modelu Machine Learning, który będzie prognozował sprzedaż z 48-dniowym wyprzedzeniem – celem wsparcie planowania dostaw oraz lepsze zarządzanie zapasami.</a:t>
            </a:r>
          </a:p>
          <a:p>
            <a:endParaRPr lang="pl-PL" dirty="0"/>
          </a:p>
          <a:p>
            <a:r>
              <a:rPr lang="pl-PL" dirty="0"/>
              <a:t>Skuteczność modeli ocenialiśmy za pomocą metryk MAE oraz RMSPE. RMSPE liczy błąd procentowy i </a:t>
            </a:r>
            <a:r>
              <a:rPr lang="pl-PL" b="1" dirty="0"/>
              <a:t>podnosi go do kwadratu, przez co wyjątkowo surowo karze duże odchylenia</a:t>
            </a:r>
            <a:r>
              <a:rPr lang="pl-PL" dirty="0"/>
              <a:t>. W sieci handlowej wolimy model, który na każdym sklepie myli się stabilnie o 8%, niż taki, który na większości trafi idealnie, a na jednym pomyli się o 200% i doprowadzi do braku towaru lub przewymiarowania magazynu.</a:t>
            </a:r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b="1" dirty="0">
                <a:solidFill>
                  <a:srgbClr val="464646"/>
                </a:solidFill>
              </a:rPr>
              <a:t>MAE</a:t>
            </a:r>
            <a:r>
              <a:rPr lang="pl-PL" dirty="0">
                <a:solidFill>
                  <a:srgbClr val="464646"/>
                </a:solidFill>
              </a:rPr>
              <a:t> – średni błąd prognozy - b</a:t>
            </a:r>
            <a:r>
              <a:rPr lang="pl-PL" dirty="0"/>
              <a:t>ardzo prosta metryka do wytłumaczenia biznesowi - mówi, o ile średnio (w kwocie) model pomylił się na pojedynczym sklepie w danym dniu.</a:t>
            </a:r>
          </a:p>
          <a:p>
            <a:endParaRPr lang="pl-PL" dirty="0"/>
          </a:p>
          <a:p>
            <a:r>
              <a:rPr lang="pl-PL" dirty="0"/>
              <a:t>Celem było uzyskanie jak najniższego błędu prognozy w porównaniu z prostszymi modelami bazowymi.</a:t>
            </a:r>
          </a:p>
          <a:p>
            <a:endParaRPr lang="pl-PL" dirty="0"/>
          </a:p>
          <a:p>
            <a:r>
              <a:rPr lang="pl-PL" dirty="0"/>
              <a:t>Po prawej stronie pokazaliśmy uproszczony schemat całego procesu – od danych historycznych, przez model Machine Learning, aż do prognozy sprzedaży, która wspiera podejmowanie decyzji dotyczących planowania dostaw</a:t>
            </a:r>
          </a:p>
          <a:p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395FDD-6113-40F9-B104-49A78CEF58C7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1310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0C8A4-627D-6484-4176-B64F73817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EF092B24-38DE-2C0B-34F2-E790A7AF1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73ACE8C5-72F0-0648-8E83-B35F80B58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 tym etapie skupiliśmy się na poznaniu danych i przygotowaniu ich do modelowania. Zbiór obejmował historyczną sprzedaż ponad 1100 sklepów Rossmann oraz informacje o promocjach, świętach i statusie otwarcia sklepów.</a:t>
            </a:r>
          </a:p>
          <a:p>
            <a:endParaRPr lang="pl-PL" dirty="0"/>
          </a:p>
          <a:p>
            <a:r>
              <a:rPr lang="pl-PL" dirty="0"/>
              <a:t>W analizie EDA zauważyliśmy wyraźną sezonowość. Sprzedaż zmieniała się zarówno w zależności od dnia tygodnia, jak i miesiąca, a największe wartości występowały w okresie świątecznym. Dodatkowo promocje miały bardzo duży wpływ na poziom sprzedaży.</a:t>
            </a:r>
          </a:p>
          <a:p>
            <a:endParaRPr lang="pl-PL" dirty="0"/>
          </a:p>
          <a:p>
            <a:r>
              <a:rPr lang="pl-PL" dirty="0"/>
              <a:t>Na podstawie tych obserwacji przygotowaliśmy nowe cechy dla modeli. Oprócz cech kalendarzowych wykorzystaliśmy lagi 49 i 56 dni oraz statystyki kroczące, takie jak średnia, odchylenie standardowe i mediana. Dzięki temu model otrzymał więcej informacji o wcześniejszych </a:t>
            </a:r>
            <a:r>
              <a:rPr lang="pl-PL" dirty="0" err="1"/>
              <a:t>zachowaniach</a:t>
            </a:r>
            <a:r>
              <a:rPr lang="pl-PL" dirty="0"/>
              <a:t> sprzedaży.</a:t>
            </a:r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80399D2-14F4-5B9D-282D-D4F4F980A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395FDD-6113-40F9-B104-49A78CEF58C7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80590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48E19-17AD-3C33-72D8-59F9DA6A4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09672112-8F52-511B-0767-E4F137C99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notatek 2">
                <a:extLst>
                  <a:ext uri="{FF2B5EF4-FFF2-40B4-BE49-F238E27FC236}">
                    <a16:creationId xmlns:a16="http://schemas.microsoft.com/office/drawing/2014/main" id="{2BD961F1-2200-100F-181F-CF791624C5C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l-PL" dirty="0"/>
                  <a:t>Dane zostały podzielone chronologicznie z wykorzystaniem punktu odcięcia 15 czerwca 2015 roku. </a:t>
                </a:r>
              </a:p>
              <a:p>
                <a:endParaRPr lang="pl-PL" dirty="0"/>
              </a:p>
              <a:p>
                <a:r>
                  <a:rPr lang="pl-PL" dirty="0"/>
                  <a:t>Dzięki temu model był trenowany wyłącznie na danych historycznych, co pozwoliło uniknąć zjawiska Data </a:t>
                </a:r>
                <a:r>
                  <a:rPr lang="pl-PL" dirty="0" err="1"/>
                  <a:t>Leakage</a:t>
                </a:r>
                <a:r>
                  <a:rPr lang="pl-PL" dirty="0"/>
                  <a:t>. </a:t>
                </a:r>
              </a:p>
              <a:p>
                <a:endParaRPr lang="pl-PL" dirty="0"/>
              </a:p>
              <a:p>
                <a:r>
                  <a:rPr lang="pl-PL" dirty="0"/>
                  <a:t>Do przygotowania danych wykorzystaliśmy </a:t>
                </a:r>
                <a:r>
                  <a:rPr lang="pl-PL" dirty="0" err="1"/>
                  <a:t>pipeline</a:t>
                </a:r>
                <a:r>
                  <a:rPr lang="pl-PL" dirty="0"/>
                  <a:t> zbudowany z użyciem </a:t>
                </a:r>
                <a:r>
                  <a:rPr lang="pl-PL" b="1" dirty="0" err="1"/>
                  <a:t>ColumnTransformer</a:t>
                </a:r>
                <a:r>
                  <a:rPr lang="pl-PL" dirty="0"/>
                  <a:t>, który automatyzował transformację danych i zapewniał jednakowy sposób ich przetwarzania dla wszystkich modeli. W naszym </a:t>
                </a:r>
                <a:r>
                  <a:rPr lang="pl-P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ColumnTransformerze</a:t>
                </a:r>
                <a:r>
                  <a:rPr lang="pl-PL" dirty="0"/>
                  <a:t> połączyliśmy dwa główne procesy: </a:t>
                </a:r>
                <a:r>
                  <a:rPr lang="pl-P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OneHotEncoder</a:t>
                </a:r>
                <a:r>
                  <a:rPr lang="pl-PL" dirty="0"/>
                  <a:t> zamienił zmienne kategoryczne (np. typ sklepu, asortyment, święta) na binarne kolumny </a:t>
                </a:r>
                <a14:m>
                  <m:oMath xmlns:m="http://schemas.openxmlformats.org/officeDocument/2006/math">
                    <m:r>
                      <a:rPr lang="pl-PL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pl-P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/1</m:t>
                    </m:r>
                  </m:oMath>
                </a14:m>
                <a:r>
                  <a:rPr lang="pl-PL" dirty="0"/>
                  <a:t>, a </a:t>
                </a:r>
                <a:r>
                  <a:rPr lang="pl-P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StandardScaler</a:t>
                </a:r>
                <a:r>
                  <a:rPr lang="pl-PL" dirty="0"/>
                  <a:t> wyrównał skalę dla zmiennych numerycznych oraz wygenerowanych </a:t>
                </a:r>
                <a:r>
                  <a:rPr lang="pl-PL" dirty="0" err="1"/>
                  <a:t>lagów</a:t>
                </a:r>
                <a:r>
                  <a:rPr lang="pl-PL" dirty="0"/>
                  <a:t> i statystyk kroczących."</a:t>
                </a:r>
              </a:p>
            </p:txBody>
          </p:sp>
        </mc:Choice>
        <mc:Fallback xmlns="">
          <p:sp>
            <p:nvSpPr>
              <p:cNvPr id="3" name="Symbol zastępczy notatek 2">
                <a:extLst>
                  <a:ext uri="{FF2B5EF4-FFF2-40B4-BE49-F238E27FC236}">
                    <a16:creationId xmlns:a16="http://schemas.microsoft.com/office/drawing/2014/main" id="{2BD961F1-2200-100F-181F-CF791624C5C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l-PL" dirty="0"/>
                  <a:t>Dane zostały podzielone chronologicznie z wykorzystaniem punktu odcięcia 15 czerwca 2015 roku. </a:t>
                </a:r>
              </a:p>
              <a:p>
                <a:endParaRPr lang="pl-PL" dirty="0"/>
              </a:p>
              <a:p>
                <a:r>
                  <a:rPr lang="pl-PL" dirty="0"/>
                  <a:t>Dzięki temu model był trenowany wyłącznie na danych historycznych, co pozwoliło uniknąć zjawiska Data </a:t>
                </a:r>
                <a:r>
                  <a:rPr lang="pl-PL" dirty="0" err="1"/>
                  <a:t>Leakage</a:t>
                </a:r>
                <a:r>
                  <a:rPr lang="pl-PL" dirty="0"/>
                  <a:t>. </a:t>
                </a:r>
              </a:p>
              <a:p>
                <a:endParaRPr lang="pl-PL" dirty="0"/>
              </a:p>
              <a:p>
                <a:r>
                  <a:rPr lang="pl-PL" dirty="0"/>
                  <a:t>Do przygotowania danych wykorzystaliśmy </a:t>
                </a:r>
                <a:r>
                  <a:rPr lang="pl-PL" dirty="0" err="1"/>
                  <a:t>pipeline</a:t>
                </a:r>
                <a:r>
                  <a:rPr lang="pl-PL" dirty="0"/>
                  <a:t> zbudowany z użyciem </a:t>
                </a:r>
                <a:r>
                  <a:rPr lang="pl-PL" b="1" dirty="0" err="1"/>
                  <a:t>ColumnTransformer</a:t>
                </a:r>
                <a:r>
                  <a:rPr lang="pl-PL" dirty="0"/>
                  <a:t>, który automatyzował transformację danych i zapewniał jednakowy sposób ich przetwarzania dla wszystkich modeli. W naszym </a:t>
                </a:r>
                <a:r>
                  <a:rPr lang="pl-P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ColumnTransformerze</a:t>
                </a:r>
                <a:r>
                  <a:rPr lang="pl-PL" dirty="0"/>
                  <a:t> połączyliśmy dwa główne procesy: </a:t>
                </a:r>
                <a:r>
                  <a:rPr lang="pl-P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OneHotEncoder</a:t>
                </a:r>
                <a:r>
                  <a:rPr lang="pl-PL" dirty="0"/>
                  <a:t> zamienił zmienne kategoryczne (np. typ sklepu, asortyment, święta) na binarne kolumny </a:t>
                </a:r>
                <a:r>
                  <a:rPr lang="pl-PL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0/1</a:t>
                </a:r>
                <a:r>
                  <a:rPr lang="pl-PL" dirty="0"/>
                  <a:t>, a </a:t>
                </a:r>
                <a:r>
                  <a:rPr lang="pl-P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StandardScaler</a:t>
                </a:r>
                <a:r>
                  <a:rPr lang="pl-PL" dirty="0"/>
                  <a:t> wyrównał skalę dla zmiennych numerycznych oraz wygenerowanych </a:t>
                </a:r>
                <a:r>
                  <a:rPr lang="pl-PL" dirty="0" err="1"/>
                  <a:t>lagów</a:t>
                </a:r>
                <a:r>
                  <a:rPr lang="pl-PL" dirty="0"/>
                  <a:t> i statystyk kroczących."</a:t>
                </a:r>
              </a:p>
            </p:txBody>
          </p:sp>
        </mc:Fallback>
      </mc:AlternateContent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FB1767D-46A0-9260-2712-F9BA7D5D8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395FDD-6113-40F9-B104-49A78CEF58C7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81833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6B199-B6F2-6EEA-5258-8644AEA40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029D7B66-AA5B-0CB4-1CA7-4BD80EC35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6D997540-31CB-6CF8-A630-A4B627211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Po przygotowaniu danych przeszliśmy do porównania kilku podejść do prognozowania sprzedaży. Punktem odniesienia był model bazowy </a:t>
            </a:r>
            <a:r>
              <a:rPr lang="pl-PL" dirty="0" err="1"/>
              <a:t>DummyRegressor</a:t>
            </a:r>
            <a:r>
              <a:rPr lang="pl-PL" dirty="0"/>
              <a:t>, który przewiduje jedną średnią wartość dla wszystkich obserwacji.</a:t>
            </a:r>
          </a:p>
          <a:p>
            <a:endParaRPr lang="pl-PL" dirty="0"/>
          </a:p>
          <a:p>
            <a:r>
              <a:rPr lang="pl-PL" dirty="0"/>
              <a:t>Następnie sprawdziliśmy prosty model heurystyczny, wykorzystujący średnią sprzedaż dla konkretnego sklepu i dnia tygodnia. Pozwoliło to uwzględnić podstawowe wzorce występujące w danych.</a:t>
            </a:r>
          </a:p>
          <a:p>
            <a:endParaRPr lang="pl-PL" dirty="0"/>
          </a:p>
          <a:p>
            <a:r>
              <a:rPr lang="pl-PL" dirty="0"/>
              <a:t>Kolejnym rozwiązaniem był model </a:t>
            </a:r>
            <a:r>
              <a:rPr lang="pl-PL" dirty="0" err="1"/>
              <a:t>LinearSVR</a:t>
            </a:r>
            <a:r>
              <a:rPr lang="pl-PL" dirty="0"/>
              <a:t>, reprezentujący podejście liniowe. Ostatecznie najlepsze wyniki uzyskał </a:t>
            </a:r>
            <a:r>
              <a:rPr lang="pl-PL" dirty="0" err="1"/>
              <a:t>Random</a:t>
            </a:r>
            <a:r>
              <a:rPr lang="pl-PL" dirty="0"/>
              <a:t> </a:t>
            </a:r>
            <a:r>
              <a:rPr lang="pl-PL" dirty="0" err="1"/>
              <a:t>Forest</a:t>
            </a:r>
            <a:r>
              <a:rPr lang="pl-PL" dirty="0"/>
              <a:t>, który dzięki wykorzystaniu wielu drzew decyzyjnych lepiej wychwycił zależności pomiędzy cechami.</a:t>
            </a:r>
          </a:p>
          <a:p>
            <a:endParaRPr lang="pl-PL" dirty="0"/>
          </a:p>
          <a:p>
            <a:r>
              <a:rPr lang="pl-PL" dirty="0"/>
              <a:t>Jak widać na wykresach, każdy kolejny model zmniejszał błąd prognozy, jednak największą poprawę przyniósł </a:t>
            </a:r>
            <a:r>
              <a:rPr lang="pl-PL" dirty="0" err="1"/>
              <a:t>Random</a:t>
            </a:r>
            <a:r>
              <a:rPr lang="pl-PL" dirty="0"/>
              <a:t> </a:t>
            </a:r>
            <a:r>
              <a:rPr lang="pl-PL" dirty="0" err="1"/>
              <a:t>Forest</a:t>
            </a:r>
            <a:r>
              <a:rPr lang="pl-PL" dirty="0"/>
              <a:t>. Dlatego został wybrany jako model końcowy naszego projektu.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A1F693F-C914-25EF-0DE3-338D0D0F5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395FDD-6113-40F9-B104-49A78CEF58C7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5756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CB345-9CCC-F193-7C58-CDF32F0F9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892C0719-9B9A-4D6B-4E41-C4E4CA8AC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D85C826-7004-E10E-13D7-8745624CB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Przewagą </a:t>
            </a:r>
            <a:r>
              <a:rPr lang="pl-PL" dirty="0" err="1"/>
              <a:t>Random</a:t>
            </a:r>
            <a:r>
              <a:rPr lang="pl-PL" dirty="0"/>
              <a:t> </a:t>
            </a:r>
            <a:r>
              <a:rPr lang="pl-PL" dirty="0" err="1"/>
              <a:t>Forest</a:t>
            </a:r>
            <a:r>
              <a:rPr lang="pl-PL" dirty="0"/>
              <a:t> było skuteczne modelowanie nieliniowych zależności występujących w danych. Oznacza to, że potrafił uwzględnić złożone interakcje między cechami, na przykład wpływ promocji w połączeniu z konkretnym dniem tygodnia.</a:t>
            </a:r>
          </a:p>
          <a:p>
            <a:r>
              <a:rPr lang="pl-PL" dirty="0"/>
              <a:t>Dodatkową zaletą było wykorzystanie pełnego zbioru danych bez konieczności ograniczania liczby obserwacji, co miało znaczenie przy dużym wolumenie danych.</a:t>
            </a:r>
          </a:p>
          <a:p>
            <a:endParaRPr lang="pl-PL" dirty="0"/>
          </a:p>
          <a:p>
            <a:r>
              <a:rPr lang="pl-PL" dirty="0"/>
              <a:t>Ostatecznie model osiągnął średni błąd </a:t>
            </a:r>
            <a:r>
              <a:rPr lang="pl-PL" b="1" dirty="0"/>
              <a:t>MAE na poziomie około 899 euro, MAPE 12,8% oraz RMSPE 17,06%</a:t>
            </a:r>
            <a:r>
              <a:rPr lang="pl-PL" dirty="0"/>
              <a:t>. </a:t>
            </a:r>
            <a:r>
              <a:rPr lang="pl-PL" b="1" dirty="0"/>
              <a:t>RMSPE było główną metryką wykorzystywaną podczas strojenia modeli, natomiast MAE i MAPE prezentujemy, ponieważ najlepiej pokazują jakość prognoz z perspektywy biznesowej i są łatwiejsze do interpretacji.</a:t>
            </a:r>
          </a:p>
          <a:p>
            <a:endParaRPr lang="pl-PL" dirty="0"/>
          </a:p>
          <a:p>
            <a:r>
              <a:rPr lang="pl-PL" dirty="0"/>
              <a:t>Współczynnik </a:t>
            </a:r>
            <a:r>
              <a:rPr lang="pl-PL" b="1" dirty="0"/>
              <a:t>R² wyniósł 0,8281</a:t>
            </a:r>
            <a:r>
              <a:rPr lang="pl-PL" dirty="0"/>
              <a:t>, co oznacza, że model wyjaśnia około </a:t>
            </a:r>
            <a:r>
              <a:rPr lang="pl-PL" b="1" dirty="0"/>
              <a:t>82,8% zmienności sprzedaży</a:t>
            </a:r>
            <a:r>
              <a:rPr lang="pl-PL" dirty="0"/>
              <a:t>. W porównaniu z modelem bazowym udało się zmniejszyć błąd prognozy o ponad </a:t>
            </a:r>
            <a:r>
              <a:rPr lang="pl-PL" b="1" dirty="0"/>
              <a:t>60%</a:t>
            </a:r>
            <a:r>
              <a:rPr lang="pl-PL" dirty="0"/>
              <a:t>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4D1FDCF-589B-70BD-9144-CEA02D835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395FDD-6113-40F9-B104-49A78CEF58C7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92611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931CB-BCC6-5B9D-AC73-8C26CF55A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E5A4FA45-42A3-F21E-FE6B-2DC467274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0522403-1B06-7372-79F5-A00F1C91F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Oprócz porównania modeli napotkaliśmy również kilka praktycznych wyzwań. Pierwszym z nich były ograniczenia obliczeniowe. Model SVR na pełnym zbiorze danych trenował się bardzo długo, dlatego zdecydowaliśmy się na pracę na mniejszej próbce oraz wykorzystanie modelu </a:t>
            </a:r>
            <a:r>
              <a:rPr lang="pl-PL" dirty="0" err="1"/>
              <a:t>LinearSVR</a:t>
            </a:r>
            <a:r>
              <a:rPr lang="pl-PL" dirty="0"/>
              <a:t>. Ostatecznie wyniki potwierdziły, że w tym problemie znacznie lepiej sprawdzają się modele oparte na drzewach decyzyjnych, takie jak </a:t>
            </a:r>
            <a:r>
              <a:rPr lang="pl-PL" dirty="0" err="1"/>
              <a:t>Random</a:t>
            </a:r>
            <a:r>
              <a:rPr lang="pl-PL" dirty="0"/>
              <a:t> </a:t>
            </a:r>
            <a:r>
              <a:rPr lang="pl-PL" dirty="0" err="1"/>
              <a:t>Forest</a:t>
            </a:r>
            <a:r>
              <a:rPr lang="pl-PL" dirty="0"/>
              <a:t>.</a:t>
            </a:r>
          </a:p>
          <a:p>
            <a:r>
              <a:rPr lang="pl-PL" dirty="0"/>
              <a:t>Drugim wyzwaniem była organizacja pracy zespołowej. Pracowaliśmy równolegle na kilku </a:t>
            </a:r>
            <a:r>
              <a:rPr lang="pl-PL" dirty="0" err="1"/>
              <a:t>branchach</a:t>
            </a:r>
            <a:r>
              <a:rPr lang="pl-PL" dirty="0"/>
              <a:t> w GitHubie, co wymagało dobrej koordynacji i regularnego scalania zmian. Dzięki temu zdobyliśmy praktyczne doświadczenie w pracy zespołowej z wykorzystaniem systemu kontroli wersji.</a:t>
            </a:r>
          </a:p>
          <a:p>
            <a:r>
              <a:rPr lang="pl-PL" dirty="0"/>
              <a:t>Te doświadczenia były równie wartościowe jak sam proces budowy modeli, ponieważ pokazały, jak wygląda realizacja projektu Data Science w praktyce.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0A9A9CE-3D86-C182-2E6E-630AFF73D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395FDD-6113-40F9-B104-49A78CEF58C7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28073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76752-B4D9-3978-2E39-F32CD6B3E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269F6E82-6E49-EDF9-256B-2F7791BE3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3E72843F-B090-4351-CDE6-4CE4DB05B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Ostatnim etapem było spojrzenie na projekt z perspektywy biznesowej. Dokładniejsze prognozy sprzedaży mogą wspierać planowanie dostaw i zmniejszać ryzyko braków towarów, szczególnie w okresach promocji i zwiększonego ruchu klientów. Jednocześnie lepsze prognozy pomagają ograniczyć nadmierne zapasy, co przekłada się na efektywniejsze wykorzystanie kapitału. Ze względu na najlepsze wyniki uzyskane podczas testów rekomendujemy model </a:t>
            </a:r>
            <a:r>
              <a:rPr lang="pl-PL" dirty="0" err="1"/>
              <a:t>Random</a:t>
            </a:r>
            <a:r>
              <a:rPr lang="pl-PL" dirty="0"/>
              <a:t> </a:t>
            </a:r>
            <a:r>
              <a:rPr lang="pl-PL" dirty="0" err="1"/>
              <a:t>Forest</a:t>
            </a:r>
            <a:r>
              <a:rPr lang="pl-PL" dirty="0"/>
              <a:t> jako rozwiązanie do dalszego pilotażu i ewentualnego wdrożenia w środowisku produkcyjnym.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E810976-35A7-0EB8-1C7B-2A49BE32D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395FDD-6113-40F9-B104-49A78CEF58C7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54121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30387-A6B2-780E-9F8E-0E98B6089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51BA242D-37A5-A720-3428-DDEC36819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6D7A3A9-7FF2-1191-FD26-E4AD7D2D4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obecnej pracy skupiliśmy się na stworzeniu skutecznego modelu prognozowania sprzedaży. Kolejnym krokiem mogłoby być przetestowanie bardziej zaawansowanych modeli, takich jak </a:t>
            </a:r>
            <a:r>
              <a:rPr lang="pl-PL" dirty="0" err="1"/>
              <a:t>XGBoost</a:t>
            </a:r>
            <a:r>
              <a:rPr lang="pl-PL" dirty="0"/>
              <a:t> czy </a:t>
            </a:r>
            <a:r>
              <a:rPr lang="pl-PL" dirty="0" err="1"/>
              <a:t>LightGBM</a:t>
            </a:r>
            <a:r>
              <a:rPr lang="pl-PL" dirty="0"/>
              <a:t>, które często zapewniają podobną lub wyższą skuteczność przy krótszym czasie predykcji.</a:t>
            </a:r>
          </a:p>
          <a:p>
            <a:r>
              <a:rPr lang="pl-PL" dirty="0"/>
              <a:t>Warto również rozszerzyć model o dane zewnętrzne, takie jak pogoda, wskaźniki makroekonomiczne czy lokalne wydarzenia, ponieważ mogą one wpływać na poziom sprzedaży.</a:t>
            </a:r>
          </a:p>
          <a:p>
            <a:r>
              <a:rPr lang="pl-PL" dirty="0"/>
              <a:t>Ostatnim etapem byłaby automatyzacja całego procesu poprzez stworzenie </a:t>
            </a:r>
            <a:r>
              <a:rPr lang="pl-PL" dirty="0" err="1"/>
              <a:t>pipeline'u</a:t>
            </a:r>
            <a:r>
              <a:rPr lang="pl-PL" dirty="0"/>
              <a:t>, który raz w miesiącu automatycznie uczyłby model na nowych danych i aktualizował prognozy.</a:t>
            </a:r>
          </a:p>
          <a:p>
            <a:endParaRPr lang="pl-PL" sz="1400" dirty="0"/>
          </a:p>
          <a:p>
            <a:r>
              <a:rPr lang="pl-PL" sz="1400" dirty="0"/>
              <a:t>Podsumowując, udało nam się stworzyć model, który nie tylko osiągnął bardzo dobre wyniki predykcyjne, ale przede wszystkim może wspierać realne decyzje biznesowe dotyczące planowania sprzedaży i zarządzania zapasami</a:t>
            </a:r>
            <a:r>
              <a:rPr lang="pl-PL" dirty="0"/>
              <a:t>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22F0033-9ED0-A663-769A-51D8A07064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395FDD-6113-40F9-B104-49A78CEF58C7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16274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DD4AD-83AE-BF59-8896-AF0CC3BA6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D8869C7-9745-3642-56D0-B8A8AC040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2E371303-B546-789D-5FF8-EF35F6345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670EA95-9504-6AE0-49A4-A4B78995E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395FDD-6113-40F9-B104-49A78CEF58C7}" type="slidenum">
              <a:rPr kumimoji="0" lang="pl-P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pl-P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55345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0DE66-27C6-95C3-95F6-18CCA5B6A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E23E1C2-5FF7-9DC5-588A-B7AFFA1D9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2D9BA5C-C9E7-89A1-1C50-54DE66B47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513C7EC-8A38-A139-704C-9A467CA18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395FDD-6113-40F9-B104-49A78CEF58C7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66705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376571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800" dirty="0" err="1">
                <a:solidFill>
                  <a:srgbClr val="17375E"/>
                </a:solidFill>
              </a:rPr>
              <a:t>Predykcja</a:t>
            </a:r>
            <a:r>
              <a:rPr sz="3800" dirty="0">
                <a:solidFill>
                  <a:srgbClr val="17375E"/>
                </a:solidFill>
              </a:rPr>
              <a:t> </a:t>
            </a:r>
            <a:r>
              <a:rPr lang="pl-PL" sz="3800" dirty="0">
                <a:solidFill>
                  <a:srgbClr val="17375E"/>
                </a:solidFill>
              </a:rPr>
              <a:t>p</a:t>
            </a:r>
            <a:r>
              <a:rPr sz="3800" dirty="0" err="1">
                <a:solidFill>
                  <a:srgbClr val="17375E"/>
                </a:solidFill>
              </a:rPr>
              <a:t>opytu</a:t>
            </a:r>
            <a:r>
              <a:rPr sz="3800" dirty="0">
                <a:solidFill>
                  <a:srgbClr val="17375E"/>
                </a:solidFill>
              </a:rPr>
              <a:t> w </a:t>
            </a:r>
            <a:r>
              <a:rPr lang="pl-PL" sz="3800" dirty="0">
                <a:solidFill>
                  <a:srgbClr val="17375E"/>
                </a:solidFill>
              </a:rPr>
              <a:t>s</a:t>
            </a:r>
            <a:r>
              <a:rPr sz="3800" dirty="0" err="1">
                <a:solidFill>
                  <a:srgbClr val="17375E"/>
                </a:solidFill>
              </a:rPr>
              <a:t>ieci</a:t>
            </a:r>
            <a:r>
              <a:rPr sz="3800" dirty="0">
                <a:solidFill>
                  <a:srgbClr val="17375E"/>
                </a:solidFill>
              </a:rPr>
              <a:t> Rossmann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8471" y="2004639"/>
            <a:ext cx="2107244" cy="22837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b="1" i="1" dirty="0"/>
              <a:t>The </a:t>
            </a:r>
            <a:r>
              <a:rPr lang="pl-PL" b="1" i="1" dirty="0" err="1"/>
              <a:t>Overfitters</a:t>
            </a:r>
            <a:endParaRPr lang="pl-PL" b="1" i="1" dirty="0">
              <a:solidFill>
                <a:srgbClr val="17375E"/>
              </a:solidFill>
            </a:endParaRPr>
          </a:p>
          <a:p>
            <a:pPr>
              <a:lnSpc>
                <a:spcPct val="120000"/>
              </a:lnSpc>
              <a:defRPr sz="2000"/>
            </a:pPr>
            <a:r>
              <a:rPr lang="pl-PL" b="1" dirty="0">
                <a:solidFill>
                  <a:srgbClr val="17375E"/>
                </a:solidFill>
              </a:rPr>
              <a:t>Autorzy:</a:t>
            </a:r>
          </a:p>
          <a:p>
            <a:pPr>
              <a:lnSpc>
                <a:spcPct val="120000"/>
              </a:lnSpc>
              <a:defRPr sz="2000"/>
            </a:pPr>
            <a:r>
              <a:rPr lang="pl-PL" dirty="0">
                <a:solidFill>
                  <a:srgbClr val="464646"/>
                </a:solidFill>
              </a:rPr>
              <a:t>Joanna Sawicka</a:t>
            </a:r>
          </a:p>
          <a:p>
            <a:pPr>
              <a:lnSpc>
                <a:spcPct val="120000"/>
              </a:lnSpc>
              <a:defRPr sz="2000"/>
            </a:pPr>
            <a:r>
              <a:rPr lang="pl-PL" dirty="0" err="1">
                <a:solidFill>
                  <a:srgbClr val="464646"/>
                </a:solidFill>
              </a:rPr>
              <a:t>Kiryl</a:t>
            </a:r>
            <a:r>
              <a:rPr lang="pl-PL" dirty="0">
                <a:solidFill>
                  <a:srgbClr val="464646"/>
                </a:solidFill>
              </a:rPr>
              <a:t> </a:t>
            </a:r>
            <a:r>
              <a:rPr lang="pl-PL" dirty="0" err="1">
                <a:solidFill>
                  <a:srgbClr val="464646"/>
                </a:solidFill>
              </a:rPr>
              <a:t>Radkevich</a:t>
            </a:r>
            <a:endParaRPr lang="pl-PL" dirty="0">
              <a:solidFill>
                <a:srgbClr val="464646"/>
              </a:solidFill>
            </a:endParaRPr>
          </a:p>
          <a:p>
            <a:pPr>
              <a:lnSpc>
                <a:spcPct val="120000"/>
              </a:lnSpc>
              <a:defRPr sz="2000"/>
            </a:pPr>
            <a:r>
              <a:rPr lang="pl-PL" dirty="0">
                <a:solidFill>
                  <a:srgbClr val="464646"/>
                </a:solidFill>
              </a:rPr>
              <a:t>Robert Walkiewicz</a:t>
            </a:r>
          </a:p>
          <a:p>
            <a:pPr>
              <a:lnSpc>
                <a:spcPct val="120000"/>
              </a:lnSpc>
              <a:defRPr sz="2000"/>
            </a:pPr>
            <a:r>
              <a:rPr lang="pl-PL" dirty="0">
                <a:solidFill>
                  <a:srgbClr val="464646"/>
                </a:solidFill>
              </a:rPr>
              <a:t>Marek Lipiński</a:t>
            </a:r>
            <a:endParaRPr lang="pl-PL" dirty="0">
              <a:solidFill>
                <a:srgbClr val="17375E"/>
              </a:solidFill>
            </a:endParaRP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4E7D02FA-CB02-A0D7-3A53-180E1B89F937}"/>
              </a:ext>
            </a:extLst>
          </p:cNvPr>
          <p:cNvSpPr/>
          <p:nvPr/>
        </p:nvSpPr>
        <p:spPr>
          <a:xfrm>
            <a:off x="580170" y="858451"/>
            <a:ext cx="10881360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960D94B2-DBD2-475F-858D-39789B07626F}"/>
              </a:ext>
            </a:extLst>
          </p:cNvPr>
          <p:cNvSpPr txBox="1"/>
          <p:nvPr/>
        </p:nvSpPr>
        <p:spPr>
          <a:xfrm>
            <a:off x="548640" y="924036"/>
            <a:ext cx="790094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lang="pl-PL" sz="2200" dirty="0">
                <a:solidFill>
                  <a:srgbClr val="464646"/>
                </a:solidFill>
              </a:rPr>
              <a:t>Projekt modelowania maszynowego dla działu Sprzedaży i Logistyki</a:t>
            </a:r>
            <a:endParaRPr sz="2200" dirty="0">
              <a:solidFill>
                <a:srgbClr val="464646"/>
              </a:solidFill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0EB0EC5B-38BE-BD79-C7D2-3ACFCBB81D5C}"/>
              </a:ext>
            </a:extLst>
          </p:cNvPr>
          <p:cNvSpPr txBox="1"/>
          <p:nvPr/>
        </p:nvSpPr>
        <p:spPr>
          <a:xfrm>
            <a:off x="518471" y="5550171"/>
            <a:ext cx="162018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pl-PL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Projekt końcowy </a:t>
            </a:r>
            <a:br>
              <a:rPr lang="pl-PL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pl-PL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Science &amp; AI </a:t>
            </a:r>
            <a:br>
              <a:rPr lang="pl-PL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pl-PL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Infoshare</a:t>
            </a:r>
            <a:r>
              <a:rPr lang="pl-PL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pl-PL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Academy</a:t>
            </a:r>
            <a:r>
              <a:rPr lang="pl-PL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>
              <a:defRPr sz="2000"/>
            </a:pPr>
            <a:r>
              <a:rPr lang="pl-PL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2026 </a:t>
            </a:r>
          </a:p>
          <a:p>
            <a:pPr>
              <a:defRPr sz="2000"/>
            </a:pPr>
            <a:endParaRPr lang="pl-PL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defRPr sz="2000"/>
            </a:pPr>
            <a:endParaRPr lang="pl-PL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B6B701F2-E6BB-5B06-D7C9-3B36B8FA8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116" y="1755960"/>
            <a:ext cx="8141108" cy="4579041"/>
          </a:xfrm>
          <a:prstGeom prst="rect">
            <a:avLst/>
          </a:prstGeom>
          <a:ln w="0">
            <a:solidFill>
              <a:srgbClr val="17375E"/>
            </a:solidFill>
          </a:ln>
          <a:effectLst>
            <a:softEdge rad="1270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6F66B-4C89-16DA-79DC-0C76AB379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4DC560-87FE-CDFB-81EC-04AA8A59F3E0}"/>
              </a:ext>
            </a:extLst>
          </p:cNvPr>
          <p:cNvSpPr txBox="1"/>
          <p:nvPr/>
        </p:nvSpPr>
        <p:spPr>
          <a:xfrm>
            <a:off x="548640" y="274320"/>
            <a:ext cx="40891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l-PL" sz="2800" dirty="0">
                <a:solidFill>
                  <a:srgbClr val="17375E"/>
                </a:solidFill>
              </a:rPr>
              <a:t>Cel biznesowy i wyzwanie</a:t>
            </a:r>
            <a:endParaRPr sz="2800" dirty="0">
              <a:solidFill>
                <a:srgbClr val="17375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6C1EF7-8036-5DFC-8FE5-F2F606EBCC18}"/>
              </a:ext>
            </a:extLst>
          </p:cNvPr>
          <p:cNvSpPr txBox="1"/>
          <p:nvPr/>
        </p:nvSpPr>
        <p:spPr>
          <a:xfrm>
            <a:off x="298481" y="1148032"/>
            <a:ext cx="5658793" cy="2357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📦 </a:t>
            </a:r>
            <a:r>
              <a:rPr lang="pl-PL" sz="2200" b="1" dirty="0">
                <a:solidFill>
                  <a:srgbClr val="17375E"/>
                </a:solidFill>
              </a:rPr>
              <a:t>Problem biznesowy</a:t>
            </a:r>
          </a:p>
          <a:p>
            <a:pPr>
              <a:lnSpc>
                <a:spcPct val="120000"/>
              </a:lnSpc>
              <a:defRPr sz="2000"/>
            </a:pPr>
            <a:r>
              <a:rPr lang="pl-PL" dirty="0"/>
              <a:t>	Brak dokładnych prognoz powoduje:</a:t>
            </a:r>
            <a:endParaRPr lang="pl-PL" dirty="0">
              <a:solidFill>
                <a:srgbClr val="464646"/>
              </a:solidFill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b="1" dirty="0">
                <a:solidFill>
                  <a:srgbClr val="464646"/>
                </a:solidFill>
              </a:rPr>
              <a:t>Braki towarów </a:t>
            </a:r>
            <a:r>
              <a:rPr lang="pl-PL" dirty="0">
                <a:solidFill>
                  <a:srgbClr val="464646"/>
                </a:solidFill>
              </a:rPr>
              <a:t>podczas wzmożonego popytu</a:t>
            </a:r>
          </a:p>
          <a:p>
            <a:pPr>
              <a:lnSpc>
                <a:spcPct val="120000"/>
              </a:lnSpc>
              <a:defRPr sz="2000"/>
            </a:pPr>
            <a:r>
              <a:rPr lang="pl-PL" dirty="0">
                <a:solidFill>
                  <a:srgbClr val="464646"/>
                </a:solidFill>
              </a:rPr>
              <a:t>	      (Out-of-Stock),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b="1" dirty="0">
                <a:solidFill>
                  <a:srgbClr val="464646"/>
                </a:solidFill>
              </a:rPr>
              <a:t>Nadmierne zapasy </a:t>
            </a:r>
            <a:r>
              <a:rPr lang="pl-PL" dirty="0">
                <a:solidFill>
                  <a:srgbClr val="464646"/>
                </a:solidFill>
              </a:rPr>
              <a:t>i zamrożenie kapitału,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b="1" dirty="0">
                <a:solidFill>
                  <a:srgbClr val="464646"/>
                </a:solidFill>
              </a:rPr>
              <a:t>Trudniejsze planowanie zapasów</a:t>
            </a:r>
            <a:r>
              <a:rPr lang="pl-PL" dirty="0">
                <a:solidFill>
                  <a:srgbClr val="464646"/>
                </a:solidFill>
              </a:rPr>
              <a:t>. 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ABAA72B2-970C-A86E-CF81-874B11351B3D}"/>
              </a:ext>
            </a:extLst>
          </p:cNvPr>
          <p:cNvSpPr/>
          <p:nvPr/>
        </p:nvSpPr>
        <p:spPr>
          <a:xfrm>
            <a:off x="580170" y="805901"/>
            <a:ext cx="5095416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E0DB0B26-F4F4-474E-97C5-88CEAB7479C9}"/>
              </a:ext>
            </a:extLst>
          </p:cNvPr>
          <p:cNvSpPr txBox="1"/>
          <p:nvPr/>
        </p:nvSpPr>
        <p:spPr>
          <a:xfrm>
            <a:off x="298481" y="3796421"/>
            <a:ext cx="6399188" cy="16189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🎯 </a:t>
            </a:r>
            <a:r>
              <a:rPr lang="pl-PL" sz="2200" b="1" dirty="0">
                <a:solidFill>
                  <a:srgbClr val="17375E"/>
                </a:solidFill>
              </a:rPr>
              <a:t>Cel projektu</a:t>
            </a:r>
          </a:p>
          <a:p>
            <a:pPr>
              <a:lnSpc>
                <a:spcPct val="120000"/>
              </a:lnSpc>
              <a:defRPr sz="2000"/>
            </a:pPr>
            <a:r>
              <a:rPr lang="pl-PL" dirty="0"/>
              <a:t>	Stworzenie modelu ML, który:</a:t>
            </a:r>
            <a:endParaRPr lang="pl-PL" dirty="0">
              <a:solidFill>
                <a:srgbClr val="464646"/>
              </a:solidFill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Prognozuje sprzedaż z 48-dniowym wyprzedzeniem,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/>
              <a:t>Uzyska </a:t>
            </a:r>
            <a:r>
              <a:rPr lang="pl-PL" b="1" dirty="0"/>
              <a:t>najniższy</a:t>
            </a:r>
            <a:r>
              <a:rPr lang="pl-PL" dirty="0"/>
              <a:t> błąd prognozy </a:t>
            </a:r>
            <a:endParaRPr lang="pl-PL" dirty="0">
              <a:solidFill>
                <a:srgbClr val="464646"/>
              </a:solidFill>
            </a:endParaRP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D33B8CF2-0175-5F76-A1DD-EBF33BB34ADC}"/>
              </a:ext>
            </a:extLst>
          </p:cNvPr>
          <p:cNvSpPr txBox="1"/>
          <p:nvPr/>
        </p:nvSpPr>
        <p:spPr>
          <a:xfrm>
            <a:off x="5957274" y="466079"/>
            <a:ext cx="5841026" cy="2357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📊 </a:t>
            </a:r>
            <a:r>
              <a:rPr lang="pl-PL" sz="2200" b="1" dirty="0">
                <a:solidFill>
                  <a:srgbClr val="17375E"/>
                </a:solidFill>
              </a:rPr>
              <a:t>Kryteria oceny modelu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b="1" dirty="0">
                <a:solidFill>
                  <a:srgbClr val="464646"/>
                </a:solidFill>
              </a:rPr>
              <a:t>MAE</a:t>
            </a:r>
            <a:r>
              <a:rPr lang="pl-PL" dirty="0">
                <a:solidFill>
                  <a:srgbClr val="464646"/>
                </a:solidFill>
              </a:rPr>
              <a:t> – średni błąd prognozy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b="1" dirty="0">
                <a:solidFill>
                  <a:srgbClr val="464646"/>
                </a:solidFill>
              </a:rPr>
              <a:t>RMSPE</a:t>
            </a:r>
            <a:r>
              <a:rPr lang="pl-PL" dirty="0">
                <a:solidFill>
                  <a:srgbClr val="464646"/>
                </a:solidFill>
              </a:rPr>
              <a:t> – procentowy błąd prognozy „z karą” (oficjalna metryka konkursowa),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b="1" dirty="0">
                <a:solidFill>
                  <a:srgbClr val="464646"/>
                </a:solidFill>
              </a:rPr>
              <a:t>Minimalizacja błędu względem modeli bazowych.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32170B80-61A5-961D-9799-EE028FC4F17C}"/>
              </a:ext>
            </a:extLst>
          </p:cNvPr>
          <p:cNvSpPr/>
          <p:nvPr/>
        </p:nvSpPr>
        <p:spPr>
          <a:xfrm>
            <a:off x="7190360" y="2882506"/>
            <a:ext cx="2129397" cy="5464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dirty="0">
                <a:solidFill>
                  <a:schemeClr val="tx1"/>
                </a:solidFill>
              </a:rPr>
              <a:t>Dane historyczne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28AF780B-B092-A731-B107-1A7D4EE81CEF}"/>
              </a:ext>
            </a:extLst>
          </p:cNvPr>
          <p:cNvSpPr/>
          <p:nvPr/>
        </p:nvSpPr>
        <p:spPr>
          <a:xfrm>
            <a:off x="7568399" y="3684335"/>
            <a:ext cx="2129397" cy="546493"/>
          </a:xfrm>
          <a:prstGeom prst="rect">
            <a:avLst/>
          </a:prstGeom>
          <a:solidFill>
            <a:srgbClr val="1737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dirty="0">
                <a:solidFill>
                  <a:schemeClr val="bg1"/>
                </a:solidFill>
              </a:rPr>
              <a:t>Model ML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20C1B855-EBE2-37DE-F107-08CDE7270A22}"/>
              </a:ext>
            </a:extLst>
          </p:cNvPr>
          <p:cNvSpPr/>
          <p:nvPr/>
        </p:nvSpPr>
        <p:spPr>
          <a:xfrm>
            <a:off x="8095522" y="4430881"/>
            <a:ext cx="2129397" cy="5464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dirty="0">
                <a:solidFill>
                  <a:schemeClr val="tx1"/>
                </a:solidFill>
              </a:rPr>
              <a:t>Prognoza sprzedaży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4CDF1B02-5636-29C1-AF07-466967728941}"/>
              </a:ext>
            </a:extLst>
          </p:cNvPr>
          <p:cNvSpPr/>
          <p:nvPr/>
        </p:nvSpPr>
        <p:spPr>
          <a:xfrm>
            <a:off x="8633097" y="5227833"/>
            <a:ext cx="2129397" cy="541470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b="1" dirty="0">
                <a:solidFill>
                  <a:schemeClr val="tx1"/>
                </a:solidFill>
              </a:rPr>
              <a:t>Lepsze planowanie dostaw</a:t>
            </a: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800DC102-CC6E-8121-94C1-2D75FAE97429}"/>
              </a:ext>
            </a:extLst>
          </p:cNvPr>
          <p:cNvCxnSpPr>
            <a:cxnSpLocks/>
          </p:cNvCxnSpPr>
          <p:nvPr/>
        </p:nvCxnSpPr>
        <p:spPr>
          <a:xfrm>
            <a:off x="8829565" y="3458463"/>
            <a:ext cx="0" cy="20005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92327CD9-71F4-D151-4575-EAACCB5A8566}"/>
              </a:ext>
            </a:extLst>
          </p:cNvPr>
          <p:cNvCxnSpPr>
            <a:cxnSpLocks/>
          </p:cNvCxnSpPr>
          <p:nvPr/>
        </p:nvCxnSpPr>
        <p:spPr>
          <a:xfrm>
            <a:off x="9319757" y="4230828"/>
            <a:ext cx="0" cy="20005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6CEF7431-FE6C-6D0A-FD17-299FCFDC47AB}"/>
              </a:ext>
            </a:extLst>
          </p:cNvPr>
          <p:cNvCxnSpPr>
            <a:cxnSpLocks/>
          </p:cNvCxnSpPr>
          <p:nvPr/>
        </p:nvCxnSpPr>
        <p:spPr>
          <a:xfrm>
            <a:off x="9885309" y="5006095"/>
            <a:ext cx="0" cy="21056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stokąt 13">
            <a:extLst>
              <a:ext uri="{FF2B5EF4-FFF2-40B4-BE49-F238E27FC236}">
                <a16:creationId xmlns:a16="http://schemas.microsoft.com/office/drawing/2014/main" id="{47266B73-2EC2-9924-3409-CA06EA07774F}"/>
              </a:ext>
            </a:extLst>
          </p:cNvPr>
          <p:cNvSpPr/>
          <p:nvPr/>
        </p:nvSpPr>
        <p:spPr>
          <a:xfrm>
            <a:off x="9148930" y="6009028"/>
            <a:ext cx="2129397" cy="541470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b="1" dirty="0">
                <a:solidFill>
                  <a:schemeClr val="tx1"/>
                </a:solidFill>
              </a:rPr>
              <a:t>Lepsze decyzje biznesowe</a:t>
            </a:r>
          </a:p>
        </p:txBody>
      </p:sp>
      <p:sp>
        <p:nvSpPr>
          <p:cNvPr id="16" name="Strzałka: w dół 15">
            <a:extLst>
              <a:ext uri="{FF2B5EF4-FFF2-40B4-BE49-F238E27FC236}">
                <a16:creationId xmlns:a16="http://schemas.microsoft.com/office/drawing/2014/main" id="{D681901B-C3BC-8782-4C43-7A01283F4E0C}"/>
              </a:ext>
            </a:extLst>
          </p:cNvPr>
          <p:cNvSpPr/>
          <p:nvPr/>
        </p:nvSpPr>
        <p:spPr>
          <a:xfrm>
            <a:off x="10095789" y="5671393"/>
            <a:ext cx="235678" cy="38743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12265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56ACD-FC2E-95A3-B11D-070D8B0A4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301E53-7070-FB00-3748-D769BAF646F7}"/>
              </a:ext>
            </a:extLst>
          </p:cNvPr>
          <p:cNvSpPr txBox="1"/>
          <p:nvPr/>
        </p:nvSpPr>
        <p:spPr>
          <a:xfrm>
            <a:off x="548640" y="274320"/>
            <a:ext cx="67955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l-PL" sz="2800" dirty="0">
                <a:solidFill>
                  <a:srgbClr val="17375E"/>
                </a:solidFill>
              </a:rPr>
              <a:t>Dane i odkrycia (EDA &amp; </a:t>
            </a:r>
            <a:r>
              <a:rPr lang="pl-PL" sz="2800" dirty="0" err="1">
                <a:solidFill>
                  <a:srgbClr val="17375E"/>
                </a:solidFill>
              </a:rPr>
              <a:t>Feature</a:t>
            </a:r>
            <a:r>
              <a:rPr lang="pl-PL" sz="2800" dirty="0">
                <a:solidFill>
                  <a:srgbClr val="17375E"/>
                </a:solidFill>
              </a:rPr>
              <a:t> Engineering)</a:t>
            </a:r>
            <a:endParaRPr sz="2800" dirty="0">
              <a:solidFill>
                <a:srgbClr val="17375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CF5E1-031F-FE2B-35A7-66CB12F619A3}"/>
              </a:ext>
            </a:extLst>
          </p:cNvPr>
          <p:cNvSpPr txBox="1"/>
          <p:nvPr/>
        </p:nvSpPr>
        <p:spPr>
          <a:xfrm>
            <a:off x="233559" y="1108365"/>
            <a:ext cx="5795766" cy="2357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📂</a:t>
            </a:r>
            <a:r>
              <a:rPr lang="pl-PL" sz="2200" b="1" dirty="0">
                <a:solidFill>
                  <a:srgbClr val="17375E"/>
                </a:solidFill>
              </a:rPr>
              <a:t>Zbiór danych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Ponad</a:t>
            </a:r>
            <a:r>
              <a:rPr lang="pl-PL" b="1" dirty="0">
                <a:solidFill>
                  <a:srgbClr val="464646"/>
                </a:solidFill>
              </a:rPr>
              <a:t> 1100 sklepów,</a:t>
            </a:r>
            <a:endParaRPr lang="pl-PL" dirty="0">
              <a:solidFill>
                <a:srgbClr val="464646"/>
              </a:solidFill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Setki tysięcy rekordów (surowe 1 017 209 x 9) – finalnie 844 338 x 35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Uwzględniono sprzedaż, promocje, święta</a:t>
            </a:r>
          </a:p>
          <a:p>
            <a:pPr>
              <a:lnSpc>
                <a:spcPct val="120000"/>
              </a:lnSpc>
              <a:defRPr sz="2000"/>
            </a:pPr>
            <a:r>
              <a:rPr lang="pl-PL" dirty="0">
                <a:solidFill>
                  <a:srgbClr val="464646"/>
                </a:solidFill>
              </a:rPr>
              <a:t>              oraz status otwarcia sklepów.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42BAE07A-2FB9-6CD8-8746-5BF6FF8296D0}"/>
              </a:ext>
            </a:extLst>
          </p:cNvPr>
          <p:cNvSpPr/>
          <p:nvPr/>
        </p:nvSpPr>
        <p:spPr>
          <a:xfrm>
            <a:off x="596973" y="828760"/>
            <a:ext cx="7015681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E822B1FC-5008-90A5-B2AB-534234B4DB2D}"/>
              </a:ext>
            </a:extLst>
          </p:cNvPr>
          <p:cNvSpPr txBox="1"/>
          <p:nvPr/>
        </p:nvSpPr>
        <p:spPr>
          <a:xfrm>
            <a:off x="328809" y="4410335"/>
            <a:ext cx="5442516" cy="16189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🔍 </a:t>
            </a:r>
            <a:r>
              <a:rPr lang="pl-PL" sz="2200" b="1" dirty="0">
                <a:solidFill>
                  <a:srgbClr val="17375E"/>
                </a:solidFill>
              </a:rPr>
              <a:t>Najważniejsze obserwacje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Wyraźna sezonowość tygodniowa i roczna,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Wzrost sprzedaży przed świętami,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Promocje znacząco zwiększały sprzedaż.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0FDD66A3-E64E-2485-4054-7B28CB6D1FCB}"/>
              </a:ext>
            </a:extLst>
          </p:cNvPr>
          <p:cNvSpPr txBox="1"/>
          <p:nvPr/>
        </p:nvSpPr>
        <p:spPr>
          <a:xfrm>
            <a:off x="6029325" y="1008583"/>
            <a:ext cx="5867312" cy="19882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⚙️</a:t>
            </a:r>
            <a:r>
              <a:rPr lang="pl-PL" sz="2200" b="1" dirty="0" err="1">
                <a:solidFill>
                  <a:srgbClr val="17375E"/>
                </a:solidFill>
              </a:rPr>
              <a:t>Feature</a:t>
            </a:r>
            <a:r>
              <a:rPr lang="pl-PL" sz="2200" b="1" dirty="0">
                <a:solidFill>
                  <a:srgbClr val="17375E"/>
                </a:solidFill>
              </a:rPr>
              <a:t> Engineering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Cechy kalendarzowe (</a:t>
            </a:r>
            <a:r>
              <a:rPr lang="pl-PL" sz="2000" i="1" dirty="0" err="1"/>
              <a:t>DayOfWeek</a:t>
            </a:r>
            <a:r>
              <a:rPr lang="pl-PL" dirty="0"/>
              <a:t> </a:t>
            </a:r>
            <a:r>
              <a:rPr lang="pl-PL" dirty="0">
                <a:solidFill>
                  <a:srgbClr val="464646"/>
                </a:solidFill>
              </a:rPr>
              <a:t>,</a:t>
            </a:r>
            <a:r>
              <a:rPr lang="pl-PL" sz="2000" dirty="0"/>
              <a:t> </a:t>
            </a:r>
            <a:r>
              <a:rPr lang="pl-PL" sz="2000" i="1" dirty="0" err="1"/>
              <a:t>Month</a:t>
            </a:r>
            <a:r>
              <a:rPr lang="pl-PL" sz="2000" dirty="0"/>
              <a:t> itd.)</a:t>
            </a:r>
            <a:endParaRPr lang="pl-PL" dirty="0">
              <a:solidFill>
                <a:srgbClr val="464646"/>
              </a:solidFill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Lagi 49 i 56 dni,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Statystyki kroczące: </a:t>
            </a:r>
            <a:r>
              <a:rPr lang="pl-PL" i="1" dirty="0">
                <a:solidFill>
                  <a:srgbClr val="464646"/>
                </a:solidFill>
              </a:rPr>
              <a:t>Rolling </a:t>
            </a:r>
            <a:r>
              <a:rPr lang="pl-PL" i="1" dirty="0" err="1">
                <a:solidFill>
                  <a:srgbClr val="464646"/>
                </a:solidFill>
              </a:rPr>
              <a:t>Mean</a:t>
            </a:r>
            <a:r>
              <a:rPr lang="pl-PL" i="1" dirty="0">
                <a:solidFill>
                  <a:srgbClr val="464646"/>
                </a:solidFill>
              </a:rPr>
              <a:t>,</a:t>
            </a:r>
            <a:br>
              <a:rPr lang="pl-PL" i="1" dirty="0">
                <a:solidFill>
                  <a:srgbClr val="464646"/>
                </a:solidFill>
              </a:rPr>
            </a:br>
            <a:r>
              <a:rPr lang="pl-PL" i="1" dirty="0">
                <a:solidFill>
                  <a:srgbClr val="464646"/>
                </a:solidFill>
              </a:rPr>
              <a:t>Rolling Standard </a:t>
            </a:r>
            <a:r>
              <a:rPr lang="pl-PL" i="1" dirty="0" err="1">
                <a:solidFill>
                  <a:srgbClr val="464646"/>
                </a:solidFill>
              </a:rPr>
              <a:t>Deviation</a:t>
            </a:r>
            <a:r>
              <a:rPr lang="pl-PL" i="1" dirty="0">
                <a:solidFill>
                  <a:srgbClr val="464646"/>
                </a:solidFill>
              </a:rPr>
              <a:t>, Rolling Median</a:t>
            </a:r>
            <a:endParaRPr lang="pl-PL" dirty="0">
              <a:solidFill>
                <a:srgbClr val="464646"/>
              </a:solidFill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D1B0271-7494-00E8-882E-5817FEB10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594" y="3130924"/>
            <a:ext cx="5634879" cy="3096232"/>
          </a:xfrm>
          <a:prstGeom prst="rect">
            <a:avLst/>
          </a:prstGeom>
          <a:ln w="25400">
            <a:solidFill>
              <a:schemeClr val="bg1">
                <a:lumMod val="50000"/>
              </a:schemeClr>
            </a:solidFill>
          </a:ln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B5854E28-4EE5-80D9-8387-53542517F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399" y="3130924"/>
            <a:ext cx="5683042" cy="3096232"/>
          </a:xfrm>
          <a:prstGeom prst="rect">
            <a:avLst/>
          </a:prstGeom>
          <a:ln w="25400"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710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CA16A-FEA1-6AC1-FEDC-F1C6DF5CD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166EE1-307A-7041-A619-341FA633A429}"/>
              </a:ext>
            </a:extLst>
          </p:cNvPr>
          <p:cNvSpPr txBox="1"/>
          <p:nvPr/>
        </p:nvSpPr>
        <p:spPr>
          <a:xfrm>
            <a:off x="548640" y="274320"/>
            <a:ext cx="38202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l-PL" sz="2800" dirty="0">
                <a:solidFill>
                  <a:srgbClr val="17375E"/>
                </a:solidFill>
              </a:rPr>
              <a:t>Metodologia i Walidacja</a:t>
            </a:r>
            <a:endParaRPr sz="2800" dirty="0">
              <a:solidFill>
                <a:srgbClr val="17375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DEEB61-B7EB-2268-61F9-5999157FEE40}"/>
              </a:ext>
            </a:extLst>
          </p:cNvPr>
          <p:cNvSpPr txBox="1"/>
          <p:nvPr/>
        </p:nvSpPr>
        <p:spPr>
          <a:xfrm>
            <a:off x="538068" y="1148665"/>
            <a:ext cx="5687776" cy="313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🗓️</a:t>
            </a:r>
            <a:r>
              <a:rPr lang="pl-PL" sz="2200" b="1" dirty="0">
                <a:solidFill>
                  <a:srgbClr val="17375E"/>
                </a:solidFill>
              </a:rPr>
              <a:t>Chronologiczny podział danych</a:t>
            </a:r>
          </a:p>
          <a:p>
            <a:pPr>
              <a:lnSpc>
                <a:spcPct val="120000"/>
              </a:lnSpc>
              <a:defRPr sz="2000"/>
            </a:pPr>
            <a:r>
              <a:rPr lang="pl-PL" sz="2200" b="1" dirty="0">
                <a:solidFill>
                  <a:srgbClr val="17375E"/>
                </a:solidFill>
              </a:rPr>
              <a:t>	</a:t>
            </a:r>
            <a:r>
              <a:rPr lang="pl-PL" sz="2200" i="1" dirty="0">
                <a:solidFill>
                  <a:srgbClr val="17375E"/>
                </a:solidFill>
              </a:rPr>
              <a:t>(Time-</a:t>
            </a:r>
            <a:r>
              <a:rPr lang="pl-PL" sz="2200" i="1" dirty="0" err="1">
                <a:solidFill>
                  <a:srgbClr val="17375E"/>
                </a:solidFill>
              </a:rPr>
              <a:t>Based</a:t>
            </a:r>
            <a:r>
              <a:rPr lang="pl-PL" sz="2200" i="1" dirty="0">
                <a:solidFill>
                  <a:srgbClr val="17375E"/>
                </a:solidFill>
              </a:rPr>
              <a:t> Split)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Dane podzielone według daty</a:t>
            </a:r>
          </a:p>
          <a:p>
            <a:pPr lvl="1">
              <a:lnSpc>
                <a:spcPct val="120000"/>
              </a:lnSpc>
              <a:defRPr sz="2000"/>
            </a:pPr>
            <a:r>
              <a:rPr lang="pl-PL" dirty="0"/>
              <a:t>      (</a:t>
            </a:r>
            <a:r>
              <a:rPr lang="pl-PL" i="1" dirty="0"/>
              <a:t>zbiór treningowy kończy się </a:t>
            </a:r>
            <a:r>
              <a:rPr lang="pl-PL" b="1" i="1" dirty="0"/>
              <a:t>31 lipca 2015 r</a:t>
            </a:r>
            <a:r>
              <a:rPr lang="pl-PL" b="1" dirty="0"/>
              <a:t>.</a:t>
            </a:r>
            <a:r>
              <a:rPr lang="pl-PL" dirty="0"/>
              <a:t>),</a:t>
            </a:r>
            <a:endParaRPr lang="pl-PL" dirty="0">
              <a:solidFill>
                <a:srgbClr val="464646"/>
              </a:solidFill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Punkt podziału: </a:t>
            </a:r>
            <a:r>
              <a:rPr lang="pl-PL" b="1" dirty="0">
                <a:solidFill>
                  <a:srgbClr val="464646"/>
                </a:solidFill>
              </a:rPr>
              <a:t>15.06.2015,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Dane wcześniejsze </a:t>
            </a:r>
            <a:r>
              <a:rPr lang="pl-PL" dirty="0"/>
              <a:t>→ </a:t>
            </a:r>
            <a:r>
              <a:rPr lang="pl-PL" b="1" dirty="0"/>
              <a:t>trening,</a:t>
            </a:r>
            <a:endParaRPr lang="pl-PL" dirty="0">
              <a:solidFill>
                <a:srgbClr val="464646"/>
              </a:solidFill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Dane późniejsze </a:t>
            </a:r>
            <a:r>
              <a:rPr lang="pl-PL" dirty="0"/>
              <a:t>→ </a:t>
            </a:r>
            <a:r>
              <a:rPr lang="pl-PL" b="1" dirty="0"/>
              <a:t>test,</a:t>
            </a:r>
            <a:endParaRPr lang="pl-PL" dirty="0"/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Eliminacja zjawiska </a:t>
            </a:r>
            <a:r>
              <a:rPr lang="pl-PL" b="1" dirty="0">
                <a:solidFill>
                  <a:srgbClr val="464646"/>
                </a:solidFill>
              </a:rPr>
              <a:t>Data </a:t>
            </a:r>
            <a:r>
              <a:rPr lang="pl-PL" b="1" dirty="0" err="1">
                <a:solidFill>
                  <a:srgbClr val="464646"/>
                </a:solidFill>
              </a:rPr>
              <a:t>Leakage</a:t>
            </a:r>
            <a:r>
              <a:rPr lang="pl-PL" dirty="0">
                <a:solidFill>
                  <a:srgbClr val="464646"/>
                </a:solidFill>
              </a:rPr>
              <a:t>.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7B68CE74-F659-37FB-178A-D95296070B01}"/>
              </a:ext>
            </a:extLst>
          </p:cNvPr>
          <p:cNvSpPr/>
          <p:nvPr/>
        </p:nvSpPr>
        <p:spPr>
          <a:xfrm>
            <a:off x="580170" y="805901"/>
            <a:ext cx="5095416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753FDCAC-C364-DB7B-3F43-C5E00527FA6C}"/>
              </a:ext>
            </a:extLst>
          </p:cNvPr>
          <p:cNvSpPr txBox="1"/>
          <p:nvPr/>
        </p:nvSpPr>
        <p:spPr>
          <a:xfrm>
            <a:off x="5987686" y="1859930"/>
            <a:ext cx="6089238" cy="309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⚙️</a:t>
            </a:r>
            <a:r>
              <a:rPr lang="pl-PL" sz="2200" b="1" dirty="0" err="1">
                <a:solidFill>
                  <a:srgbClr val="17375E"/>
                </a:solidFill>
              </a:rPr>
              <a:t>Pipeline</a:t>
            </a:r>
            <a:r>
              <a:rPr lang="pl-PL" sz="2200" b="1" dirty="0">
                <a:solidFill>
                  <a:srgbClr val="17375E"/>
                </a:solidFill>
              </a:rPr>
              <a:t> przetwarzania danych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Automatyzacja czyszczenia i transformacji</a:t>
            </a:r>
            <a:br>
              <a:rPr lang="pl-PL" dirty="0">
                <a:solidFill>
                  <a:srgbClr val="464646"/>
                </a:solidFill>
              </a:rPr>
            </a:br>
            <a:r>
              <a:rPr lang="pl-PL" dirty="0">
                <a:solidFill>
                  <a:srgbClr val="464646"/>
                </a:solidFill>
              </a:rPr>
              <a:t>danych,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b="1" dirty="0">
                <a:solidFill>
                  <a:srgbClr val="464646"/>
                </a:solidFill>
              </a:rPr>
              <a:t>ColumnTransformer </a:t>
            </a:r>
            <a:r>
              <a:rPr lang="pl-PL" i="1" dirty="0">
                <a:solidFill>
                  <a:srgbClr val="464646"/>
                </a:solidFill>
              </a:rPr>
              <a:t>(</a:t>
            </a:r>
            <a:r>
              <a:rPr lang="pl-PL" i="1" dirty="0"/>
              <a:t>automatyczna „taśma montażowa” danych),</a:t>
            </a:r>
            <a:endParaRPr lang="pl-PL" b="1" i="1" dirty="0">
              <a:solidFill>
                <a:srgbClr val="464646"/>
              </a:solidFill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Jednolite przygotowanie danych treningowych</a:t>
            </a:r>
          </a:p>
          <a:p>
            <a:pPr marL="450850" lvl="1" indent="357188">
              <a:lnSpc>
                <a:spcPct val="120000"/>
              </a:lnSpc>
              <a:defRPr sz="2000"/>
            </a:pPr>
            <a:r>
              <a:rPr lang="pl-PL" dirty="0">
                <a:solidFill>
                  <a:srgbClr val="464646"/>
                </a:solidFill>
              </a:rPr>
              <a:t>i testowych,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Powtarzalny proces dla wszystkich modeli. 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13839A75-144F-5725-B4FD-A117270F1736}"/>
              </a:ext>
            </a:extLst>
          </p:cNvPr>
          <p:cNvSpPr txBox="1"/>
          <p:nvPr/>
        </p:nvSpPr>
        <p:spPr>
          <a:xfrm>
            <a:off x="257316" y="4556052"/>
            <a:ext cx="54919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dirty="0"/>
              <a:t>🟦 TRAIN ────────────│──────────── 🟩 TEST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6190B94D-ECA4-0C64-C85B-AC0703CAF0CC}"/>
              </a:ext>
            </a:extLst>
          </p:cNvPr>
          <p:cNvSpPr txBox="1"/>
          <p:nvPr/>
        </p:nvSpPr>
        <p:spPr>
          <a:xfrm>
            <a:off x="2320137" y="4956162"/>
            <a:ext cx="1366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 15.06.2015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A8E30E9-65D6-B6B4-B1B2-125B87CBB3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8222516"/>
              </p:ext>
            </p:extLst>
          </p:nvPr>
        </p:nvGraphicFramePr>
        <p:xfrm>
          <a:off x="5059791" y="4061711"/>
          <a:ext cx="7017133" cy="3221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7972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11" grpId="0"/>
      <p:bldP spid="13" grpId="0"/>
      <p:bldGraphic spid="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D137E-93F2-AE4B-8EB6-71CDFB638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3098FD-138F-3DB1-6913-0E6EA1C732DC}"/>
              </a:ext>
            </a:extLst>
          </p:cNvPr>
          <p:cNvSpPr txBox="1"/>
          <p:nvPr/>
        </p:nvSpPr>
        <p:spPr>
          <a:xfrm>
            <a:off x="548640" y="274320"/>
            <a:ext cx="83984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l-PL" sz="2800" dirty="0">
                <a:solidFill>
                  <a:srgbClr val="17375E"/>
                </a:solidFill>
              </a:rPr>
              <a:t>Porównanie modeli – od </a:t>
            </a:r>
            <a:r>
              <a:rPr lang="pl-PL" sz="2800" dirty="0" err="1">
                <a:solidFill>
                  <a:srgbClr val="17375E"/>
                </a:solidFill>
              </a:rPr>
              <a:t>Baseline</a:t>
            </a:r>
            <a:r>
              <a:rPr lang="pl-PL" sz="2800" dirty="0">
                <a:solidFill>
                  <a:srgbClr val="17375E"/>
                </a:solidFill>
              </a:rPr>
              <a:t> do Machine Learning</a:t>
            </a:r>
            <a:endParaRPr sz="2800" dirty="0">
              <a:solidFill>
                <a:srgbClr val="17375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22C51B-9958-1422-5609-1F698D3819AB}"/>
              </a:ext>
            </a:extLst>
          </p:cNvPr>
          <p:cNvSpPr txBox="1"/>
          <p:nvPr/>
        </p:nvSpPr>
        <p:spPr>
          <a:xfrm>
            <a:off x="580170" y="1024859"/>
            <a:ext cx="3996607" cy="3465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🧠</a:t>
            </a:r>
            <a:r>
              <a:rPr lang="pl-PL" sz="2200" b="1" dirty="0">
                <a:solidFill>
                  <a:srgbClr val="17375E"/>
                </a:solidFill>
              </a:rPr>
              <a:t>Porównywane modele</a:t>
            </a:r>
            <a:endParaRPr lang="pl-PL" sz="2200" i="1" dirty="0">
              <a:solidFill>
                <a:srgbClr val="17375E"/>
              </a:solidFill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b="1" dirty="0" err="1">
                <a:solidFill>
                  <a:srgbClr val="464646"/>
                </a:solidFill>
              </a:rPr>
              <a:t>DummyRegressor</a:t>
            </a:r>
            <a:r>
              <a:rPr lang="pl-PL" b="1" dirty="0">
                <a:solidFill>
                  <a:srgbClr val="464646"/>
                </a:solidFill>
              </a:rPr>
              <a:t> (</a:t>
            </a:r>
            <a:r>
              <a:rPr lang="pl-PL" b="1" dirty="0" err="1">
                <a:solidFill>
                  <a:srgbClr val="464646"/>
                </a:solidFill>
              </a:rPr>
              <a:t>Baseline</a:t>
            </a:r>
            <a:r>
              <a:rPr lang="pl-PL" b="1" dirty="0">
                <a:solidFill>
                  <a:srgbClr val="464646"/>
                </a:solidFill>
              </a:rPr>
              <a:t>)</a:t>
            </a:r>
          </a:p>
          <a:p>
            <a:pPr>
              <a:lnSpc>
                <a:spcPct val="120000"/>
              </a:lnSpc>
              <a:defRPr sz="2000"/>
            </a:pPr>
            <a:r>
              <a:rPr lang="pl-PL" dirty="0">
                <a:solidFill>
                  <a:srgbClr val="464646"/>
                </a:solidFill>
              </a:rPr>
              <a:t>      	      Punkt odniesienia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b="1" dirty="0">
                <a:solidFill>
                  <a:srgbClr val="464646"/>
                </a:solidFill>
              </a:rPr>
              <a:t>Model heurystyczny</a:t>
            </a:r>
          </a:p>
          <a:p>
            <a:pPr>
              <a:lnSpc>
                <a:spcPct val="120000"/>
              </a:lnSpc>
              <a:defRPr sz="2000"/>
            </a:pPr>
            <a:r>
              <a:rPr lang="pl-PL" b="1" dirty="0">
                <a:solidFill>
                  <a:srgbClr val="464646"/>
                </a:solidFill>
              </a:rPr>
              <a:t>     	      </a:t>
            </a:r>
            <a:r>
              <a:rPr lang="pl-PL" dirty="0">
                <a:solidFill>
                  <a:srgbClr val="464646"/>
                </a:solidFill>
              </a:rPr>
              <a:t>Średnia sklep + dzień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b="1" dirty="0">
                <a:solidFill>
                  <a:srgbClr val="464646"/>
                </a:solidFill>
              </a:rPr>
              <a:t>RandomForestRegressor</a:t>
            </a:r>
          </a:p>
          <a:p>
            <a:pPr>
              <a:lnSpc>
                <a:spcPct val="120000"/>
              </a:lnSpc>
              <a:defRPr sz="2000"/>
            </a:pPr>
            <a:r>
              <a:rPr lang="pl-PL" b="1" dirty="0">
                <a:solidFill>
                  <a:srgbClr val="464646"/>
                </a:solidFill>
              </a:rPr>
              <a:t>      	      </a:t>
            </a:r>
            <a:r>
              <a:rPr lang="pl-PL" dirty="0">
                <a:solidFill>
                  <a:srgbClr val="464646"/>
                </a:solidFill>
              </a:rPr>
              <a:t>Model oparty na drzewach</a:t>
            </a:r>
            <a:endParaRPr lang="pl-PL" b="1" dirty="0">
              <a:solidFill>
                <a:srgbClr val="464646"/>
              </a:solidFill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b="1" dirty="0">
                <a:solidFill>
                  <a:srgbClr val="464646"/>
                </a:solidFill>
              </a:rPr>
              <a:t>LinearSVR</a:t>
            </a:r>
          </a:p>
          <a:p>
            <a:pPr>
              <a:lnSpc>
                <a:spcPct val="120000"/>
              </a:lnSpc>
              <a:defRPr sz="2000"/>
            </a:pPr>
            <a:r>
              <a:rPr lang="pl-PL" b="1" dirty="0">
                <a:solidFill>
                  <a:srgbClr val="464646"/>
                </a:solidFill>
              </a:rPr>
              <a:t>      	      </a:t>
            </a:r>
            <a:r>
              <a:rPr lang="pl-PL" dirty="0">
                <a:solidFill>
                  <a:srgbClr val="464646"/>
                </a:solidFill>
              </a:rPr>
              <a:t>Model liniowy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00987D8C-72CB-70AC-4955-64ED83BC6AB9}"/>
              </a:ext>
            </a:extLst>
          </p:cNvPr>
          <p:cNvSpPr/>
          <p:nvPr/>
        </p:nvSpPr>
        <p:spPr>
          <a:xfrm>
            <a:off x="580170" y="805901"/>
            <a:ext cx="5095416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DEAE385-C112-094E-CD68-F95630566C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/>
          <a:stretch>
            <a:fillRect/>
          </a:stretch>
        </p:blipFill>
        <p:spPr>
          <a:xfrm>
            <a:off x="4987852" y="1252178"/>
            <a:ext cx="7027574" cy="4074194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B3F59F13-5E7D-C6D8-33D3-368CABA79341}"/>
              </a:ext>
            </a:extLst>
          </p:cNvPr>
          <p:cNvSpPr txBox="1"/>
          <p:nvPr/>
        </p:nvSpPr>
        <p:spPr>
          <a:xfrm>
            <a:off x="270031" y="5414799"/>
            <a:ext cx="609600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l-PL" b="1" dirty="0"/>
              <a:t>🏆 </a:t>
            </a:r>
            <a:r>
              <a:rPr lang="pl-PL" b="1" dirty="0" err="1">
                <a:solidFill>
                  <a:srgbClr val="17375E"/>
                </a:solidFill>
              </a:rPr>
              <a:t>Random</a:t>
            </a:r>
            <a:r>
              <a:rPr lang="pl-PL" b="1" dirty="0">
                <a:solidFill>
                  <a:srgbClr val="17375E"/>
                </a:solidFill>
              </a:rPr>
              <a:t> </a:t>
            </a:r>
            <a:r>
              <a:rPr lang="pl-PL" b="1" dirty="0" err="1">
                <a:solidFill>
                  <a:srgbClr val="17375E"/>
                </a:solidFill>
              </a:rPr>
              <a:t>Forest</a:t>
            </a:r>
            <a:r>
              <a:rPr lang="pl-PL" b="1" dirty="0">
                <a:solidFill>
                  <a:srgbClr val="17375E"/>
                </a:solidFill>
              </a:rPr>
              <a:t> (</a:t>
            </a:r>
            <a:r>
              <a:rPr lang="pl-PL" b="1" dirty="0" err="1">
                <a:solidFill>
                  <a:srgbClr val="17375E"/>
                </a:solidFill>
              </a:rPr>
              <a:t>Tuned</a:t>
            </a:r>
            <a:r>
              <a:rPr lang="pl-PL" b="1" dirty="0">
                <a:solidFill>
                  <a:srgbClr val="17375E"/>
                </a:solidFill>
              </a:rPr>
              <a:t>) </a:t>
            </a:r>
            <a:r>
              <a:rPr lang="pl-PL" b="1" dirty="0"/>
              <a:t>osiągnął najlepsze wyniki, redukując błąd o 359 € względem modelu heurystycznego</a:t>
            </a:r>
            <a:r>
              <a:rPr lang="pl-PL" dirty="0"/>
              <a:t>.</a:t>
            </a:r>
            <a:endParaRPr lang="pl-PL" b="1" dirty="0">
              <a:solidFill>
                <a:srgbClr val="17375E"/>
              </a:solidFill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A6E7C28F-32C2-1DDC-6FEF-5FDE63D420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683"/>
          <a:stretch>
            <a:fillRect/>
          </a:stretch>
        </p:blipFill>
        <p:spPr>
          <a:xfrm>
            <a:off x="5164426" y="1198098"/>
            <a:ext cx="7027574" cy="407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57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BB940-3DED-E504-9906-7DC9DF22E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1E3B0B-247A-3594-5974-14D6E2F0AD93}"/>
              </a:ext>
            </a:extLst>
          </p:cNvPr>
          <p:cNvSpPr txBox="1"/>
          <p:nvPr/>
        </p:nvSpPr>
        <p:spPr>
          <a:xfrm>
            <a:off x="548640" y="274320"/>
            <a:ext cx="52545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l-PL" sz="2800" dirty="0">
                <a:solidFill>
                  <a:srgbClr val="17375E"/>
                </a:solidFill>
              </a:rPr>
              <a:t>Zwycięski model – </a:t>
            </a:r>
            <a:r>
              <a:rPr lang="pl-PL" sz="2800" dirty="0" err="1">
                <a:solidFill>
                  <a:srgbClr val="17375E"/>
                </a:solidFill>
              </a:rPr>
              <a:t>Random</a:t>
            </a:r>
            <a:r>
              <a:rPr lang="pl-PL" sz="2800" dirty="0">
                <a:solidFill>
                  <a:srgbClr val="17375E"/>
                </a:solidFill>
              </a:rPr>
              <a:t> </a:t>
            </a:r>
            <a:r>
              <a:rPr lang="pl-PL" sz="2800" dirty="0" err="1">
                <a:solidFill>
                  <a:srgbClr val="17375E"/>
                </a:solidFill>
              </a:rPr>
              <a:t>Forest</a:t>
            </a:r>
            <a:endParaRPr sz="2800" dirty="0">
              <a:solidFill>
                <a:srgbClr val="17375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8A785F-95FB-B773-6A0C-4979325ADAF1}"/>
              </a:ext>
            </a:extLst>
          </p:cNvPr>
          <p:cNvSpPr txBox="1"/>
          <p:nvPr/>
        </p:nvSpPr>
        <p:spPr>
          <a:xfrm>
            <a:off x="399530" y="1220478"/>
            <a:ext cx="5153590" cy="1986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🏆</a:t>
            </a:r>
            <a:r>
              <a:rPr lang="pl-PL" sz="2200" b="1" dirty="0">
                <a:solidFill>
                  <a:srgbClr val="17375E"/>
                </a:solidFill>
              </a:rPr>
              <a:t>Dlaczego </a:t>
            </a:r>
            <a:r>
              <a:rPr lang="pl-PL" sz="2200" b="1" dirty="0" err="1">
                <a:solidFill>
                  <a:srgbClr val="17375E"/>
                </a:solidFill>
              </a:rPr>
              <a:t>Random</a:t>
            </a:r>
            <a:r>
              <a:rPr lang="pl-PL" sz="2200" b="1" dirty="0">
                <a:solidFill>
                  <a:srgbClr val="17375E"/>
                </a:solidFill>
              </a:rPr>
              <a:t> </a:t>
            </a:r>
            <a:r>
              <a:rPr lang="pl-PL" sz="2200" b="1" dirty="0" err="1">
                <a:solidFill>
                  <a:srgbClr val="17375E"/>
                </a:solidFill>
              </a:rPr>
              <a:t>Forest</a:t>
            </a:r>
            <a:endParaRPr lang="pl-PL" sz="2200" i="1" dirty="0">
              <a:solidFill>
                <a:srgbClr val="17375E"/>
              </a:solidFill>
            </a:endParaRPr>
          </a:p>
          <a:p>
            <a:pPr>
              <a:lnSpc>
                <a:spcPct val="120000"/>
              </a:lnSpc>
              <a:defRPr sz="2000"/>
            </a:pPr>
            <a:r>
              <a:rPr lang="pl-PL" sz="2000" dirty="0"/>
              <a:t>	✅ </a:t>
            </a:r>
            <a:r>
              <a:rPr lang="pl-PL" dirty="0">
                <a:solidFill>
                  <a:srgbClr val="464646"/>
                </a:solidFill>
              </a:rPr>
              <a:t>Modeluje nieliniowe zależności,</a:t>
            </a:r>
          </a:p>
          <a:p>
            <a:pPr>
              <a:lnSpc>
                <a:spcPct val="120000"/>
              </a:lnSpc>
              <a:defRPr sz="2000"/>
            </a:pPr>
            <a:r>
              <a:rPr lang="pl-PL" sz="2000" dirty="0"/>
              <a:t>	✅ </a:t>
            </a:r>
            <a:r>
              <a:rPr lang="pl-PL" dirty="0">
                <a:solidFill>
                  <a:srgbClr val="464646"/>
                </a:solidFill>
              </a:rPr>
              <a:t>Uwzględnia zależności między cechami,</a:t>
            </a:r>
          </a:p>
          <a:p>
            <a:pPr>
              <a:lnSpc>
                <a:spcPct val="120000"/>
              </a:lnSpc>
              <a:defRPr sz="2000"/>
            </a:pPr>
            <a:r>
              <a:rPr lang="pl-PL" sz="2000" dirty="0"/>
              <a:t>	✅ </a:t>
            </a:r>
            <a:r>
              <a:rPr lang="pl-PL" dirty="0">
                <a:solidFill>
                  <a:srgbClr val="464646"/>
                </a:solidFill>
              </a:rPr>
              <a:t>Wykorzystuje pełny zbiór danych,</a:t>
            </a:r>
          </a:p>
          <a:p>
            <a:pPr>
              <a:lnSpc>
                <a:spcPct val="120000"/>
              </a:lnSpc>
              <a:defRPr sz="2000"/>
            </a:pPr>
            <a:r>
              <a:rPr lang="pl-PL" sz="2000" dirty="0"/>
              <a:t>	✅ </a:t>
            </a:r>
            <a:r>
              <a:rPr lang="pl-PL" dirty="0">
                <a:solidFill>
                  <a:srgbClr val="464646"/>
                </a:solidFill>
              </a:rPr>
              <a:t>Osiągnął najwyższą dokładność.</a:t>
            </a:r>
            <a:endParaRPr lang="pl-PL" dirty="0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A1F34B2A-53FB-62A9-6D18-874708D14863}"/>
              </a:ext>
            </a:extLst>
          </p:cNvPr>
          <p:cNvSpPr/>
          <p:nvPr/>
        </p:nvSpPr>
        <p:spPr>
          <a:xfrm>
            <a:off x="580170" y="805901"/>
            <a:ext cx="5095416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001E48F-50EC-0A50-BD8D-79DA70D8C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242919"/>
              </p:ext>
            </p:extLst>
          </p:nvPr>
        </p:nvGraphicFramePr>
        <p:xfrm>
          <a:off x="7703212" y="1730194"/>
          <a:ext cx="2590800" cy="182880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319570438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926691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b="1" dirty="0"/>
                        <a:t>Metryka</a:t>
                      </a:r>
                      <a:endParaRPr lang="pl-P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l-PL" b="1" dirty="0"/>
                        <a:t>Wynik</a:t>
                      </a:r>
                      <a:endParaRPr lang="pl-P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968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b="1" dirty="0"/>
                        <a:t>MAE</a:t>
                      </a:r>
                      <a:endParaRPr lang="pl-P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l-PL" b="1" dirty="0"/>
                        <a:t>898,63 €</a:t>
                      </a:r>
                      <a:endParaRPr lang="pl-P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361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b="1"/>
                        <a:t>MAPE</a:t>
                      </a:r>
                      <a:endParaRPr lang="pl-P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l-PL" b="1" dirty="0"/>
                        <a:t>12,80 %</a:t>
                      </a:r>
                      <a:endParaRPr lang="pl-P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799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b="1" dirty="0"/>
                        <a:t>RMSPE</a:t>
                      </a:r>
                      <a:endParaRPr lang="pl-P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l-PL" b="1" dirty="0"/>
                        <a:t>17,06 %</a:t>
                      </a:r>
                      <a:endParaRPr lang="pl-P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713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b="1" dirty="0"/>
                        <a:t>R²</a:t>
                      </a:r>
                      <a:endParaRPr lang="pl-P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l-PL" b="1" dirty="0"/>
                        <a:t>82,8 %</a:t>
                      </a:r>
                      <a:endParaRPr lang="pl-P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1642"/>
                  </a:ext>
                </a:extLst>
              </a:tr>
            </a:tbl>
          </a:graphicData>
        </a:graphic>
      </p:graphicFrame>
      <p:sp>
        <p:nvSpPr>
          <p:cNvPr id="9" name="TextBox 2">
            <a:extLst>
              <a:ext uri="{FF2B5EF4-FFF2-40B4-BE49-F238E27FC236}">
                <a16:creationId xmlns:a16="http://schemas.microsoft.com/office/drawing/2014/main" id="{784E7F3B-8347-1DB6-9DEA-4161CB681A05}"/>
              </a:ext>
            </a:extLst>
          </p:cNvPr>
          <p:cNvSpPr txBox="1"/>
          <p:nvPr/>
        </p:nvSpPr>
        <p:spPr>
          <a:xfrm>
            <a:off x="580170" y="3575521"/>
            <a:ext cx="6286336" cy="12475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📈</a:t>
            </a:r>
            <a:r>
              <a:rPr lang="pl-PL" sz="2200" b="1" dirty="0">
                <a:solidFill>
                  <a:srgbClr val="17375E"/>
                </a:solidFill>
              </a:rPr>
              <a:t>Kluczowe rezultaty</a:t>
            </a:r>
            <a:endParaRPr lang="pl-PL" sz="2200" i="1" dirty="0">
              <a:solidFill>
                <a:srgbClr val="17375E"/>
              </a:solidFill>
            </a:endParaRPr>
          </a:p>
          <a:p>
            <a:pPr>
              <a:lnSpc>
                <a:spcPct val="120000"/>
              </a:lnSpc>
              <a:defRPr sz="2000"/>
            </a:pPr>
            <a:r>
              <a:rPr lang="pl-PL" sz="2000" dirty="0"/>
              <a:t>	✅ </a:t>
            </a:r>
            <a:r>
              <a:rPr lang="pl-PL" b="1" dirty="0">
                <a:solidFill>
                  <a:srgbClr val="464646"/>
                </a:solidFill>
              </a:rPr>
              <a:t>60,3% mniejszy błąd </a:t>
            </a:r>
            <a:r>
              <a:rPr lang="pl-PL" dirty="0">
                <a:solidFill>
                  <a:srgbClr val="464646"/>
                </a:solidFill>
              </a:rPr>
              <a:t>względem modelu bazowego,</a:t>
            </a:r>
          </a:p>
          <a:p>
            <a:pPr>
              <a:lnSpc>
                <a:spcPct val="120000"/>
              </a:lnSpc>
              <a:defRPr sz="2000"/>
            </a:pPr>
            <a:r>
              <a:rPr lang="pl-PL" sz="2000" dirty="0"/>
              <a:t>	✅ </a:t>
            </a:r>
            <a:r>
              <a:rPr lang="pl-PL" b="1" dirty="0">
                <a:solidFill>
                  <a:srgbClr val="464646"/>
                </a:solidFill>
              </a:rPr>
              <a:t>82,8% wyjaśnionej wariancji sprzedaży.</a:t>
            </a:r>
            <a:endParaRPr lang="pl-PL" b="1" dirty="0"/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A7DD7A71-7218-DC49-0535-CA20172BE8B4}"/>
              </a:ext>
            </a:extLst>
          </p:cNvPr>
          <p:cNvSpPr txBox="1"/>
          <p:nvPr/>
        </p:nvSpPr>
        <p:spPr>
          <a:xfrm>
            <a:off x="7703212" y="1009579"/>
            <a:ext cx="2528834" cy="4982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📊</a:t>
            </a:r>
            <a:r>
              <a:rPr lang="pl-PL" sz="2200" b="1" dirty="0">
                <a:solidFill>
                  <a:srgbClr val="17375E"/>
                </a:solidFill>
              </a:rPr>
              <a:t>Wyniki końcowe</a:t>
            </a:r>
            <a:endParaRPr lang="pl-PL" sz="2200" i="1" dirty="0">
              <a:solidFill>
                <a:srgbClr val="17375E"/>
              </a:solidFill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BCD115C9-6AC8-A3A9-F4B6-6CE0B60432A7}"/>
              </a:ext>
            </a:extLst>
          </p:cNvPr>
          <p:cNvSpPr txBox="1"/>
          <p:nvPr/>
        </p:nvSpPr>
        <p:spPr>
          <a:xfrm>
            <a:off x="399530" y="5728933"/>
            <a:ext cx="609600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l-PL" b="1" dirty="0"/>
              <a:t>🏆 </a:t>
            </a:r>
            <a:r>
              <a:rPr lang="pl-PL" b="1" dirty="0" err="1"/>
              <a:t>Random</a:t>
            </a:r>
            <a:r>
              <a:rPr lang="pl-PL" b="1" dirty="0"/>
              <a:t> </a:t>
            </a:r>
            <a:r>
              <a:rPr lang="pl-PL" b="1" dirty="0" err="1"/>
              <a:t>Forest</a:t>
            </a:r>
            <a:r>
              <a:rPr lang="pl-PL" b="1" dirty="0"/>
              <a:t> osiągnął najwyższą dokładność i został wybrany jako model końcowy projektu.</a:t>
            </a:r>
            <a:endParaRPr lang="pl-PL" b="1" dirty="0">
              <a:solidFill>
                <a:srgbClr val="17375E"/>
              </a:solidFill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2037944-0055-F813-69CA-F412BDDB4C22}"/>
              </a:ext>
            </a:extLst>
          </p:cNvPr>
          <p:cNvSpPr txBox="1"/>
          <p:nvPr/>
        </p:nvSpPr>
        <p:spPr>
          <a:xfrm>
            <a:off x="7113922" y="4113106"/>
            <a:ext cx="46716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l-PL" sz="1600" dirty="0"/>
              <a:t>Model pomylił się średnio o </a:t>
            </a:r>
            <a:r>
              <a:rPr lang="pl-PL" sz="1600" b="1" dirty="0"/>
              <a:t>około 17%</a:t>
            </a:r>
            <a:r>
              <a:rPr lang="pl-PL" sz="1600" dirty="0"/>
              <a:t> w skali całej sieci. W praktyce oznacza to, że jeśli sklep ma prognozowany dzienny obrót na poziomie 10 000 zł, to model pomyli się średnio o ok. 1 700 zł</a:t>
            </a:r>
          </a:p>
        </p:txBody>
      </p:sp>
    </p:spTree>
    <p:extLst>
      <p:ext uri="{BB962C8B-B14F-4D97-AF65-F5344CB8AC3E}">
        <p14:creationId xmlns:p14="http://schemas.microsoft.com/office/powerpoint/2010/main" val="146350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2" grpId="0"/>
      <p:bldP spid="14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5C728-F2FA-6E66-F31C-4B2F3AAD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744CAB-8BA7-54EB-BA65-C839D00C793D}"/>
              </a:ext>
            </a:extLst>
          </p:cNvPr>
          <p:cNvSpPr txBox="1"/>
          <p:nvPr/>
        </p:nvSpPr>
        <p:spPr>
          <a:xfrm>
            <a:off x="548640" y="274320"/>
            <a:ext cx="31077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l-PL" sz="2800" dirty="0">
                <a:solidFill>
                  <a:srgbClr val="17375E"/>
                </a:solidFill>
              </a:rPr>
              <a:t>Wyzwania i wnioski</a:t>
            </a:r>
            <a:endParaRPr sz="2800" dirty="0">
              <a:solidFill>
                <a:srgbClr val="17375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7C7DB-55C6-8194-7253-486040E4D76E}"/>
              </a:ext>
            </a:extLst>
          </p:cNvPr>
          <p:cNvSpPr txBox="1"/>
          <p:nvPr/>
        </p:nvSpPr>
        <p:spPr>
          <a:xfrm>
            <a:off x="548640" y="1117522"/>
            <a:ext cx="5447325" cy="468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⚙️</a:t>
            </a:r>
            <a:r>
              <a:rPr lang="pl-PL" sz="2400" b="1" dirty="0">
                <a:solidFill>
                  <a:srgbClr val="17375E"/>
                </a:solidFill>
              </a:rPr>
              <a:t>Wyzwania techniczne</a:t>
            </a:r>
          </a:p>
          <a:p>
            <a:pPr>
              <a:lnSpc>
                <a:spcPct val="120000"/>
              </a:lnSpc>
              <a:defRPr sz="2000"/>
            </a:pPr>
            <a:r>
              <a:rPr lang="pl-PL" sz="2200" b="1" dirty="0">
                <a:solidFill>
                  <a:srgbClr val="17375E"/>
                </a:solidFill>
              </a:rPr>
              <a:t>Problem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Trening modeli SVR czasochłonny,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Wysokie wymagania obliczeniowe pełnego</a:t>
            </a:r>
            <a:br>
              <a:rPr lang="pl-PL" dirty="0">
                <a:solidFill>
                  <a:srgbClr val="464646"/>
                </a:solidFill>
              </a:rPr>
            </a:br>
            <a:r>
              <a:rPr lang="pl-PL" dirty="0">
                <a:solidFill>
                  <a:srgbClr val="464646"/>
                </a:solidFill>
              </a:rPr>
              <a:t>zbioru.</a:t>
            </a:r>
          </a:p>
          <a:p>
            <a:pPr>
              <a:lnSpc>
                <a:spcPct val="120000"/>
              </a:lnSpc>
              <a:defRPr sz="2000"/>
            </a:pPr>
            <a:r>
              <a:rPr lang="pl-PL" sz="2200" b="1" dirty="0">
                <a:solidFill>
                  <a:srgbClr val="17375E"/>
                </a:solidFill>
              </a:rPr>
              <a:t>Rozwiązanie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sz="2000" dirty="0">
                <a:solidFill>
                  <a:srgbClr val="464646"/>
                </a:solidFill>
              </a:rPr>
              <a:t>Samplowanie do </a:t>
            </a:r>
            <a:r>
              <a:rPr lang="pl-PL" sz="2000" b="1" dirty="0">
                <a:solidFill>
                  <a:srgbClr val="464646"/>
                </a:solidFill>
              </a:rPr>
              <a:t>50 tys. rekordów,</a:t>
            </a:r>
            <a:endParaRPr lang="pl-PL" sz="2000" dirty="0">
              <a:solidFill>
                <a:srgbClr val="464646"/>
              </a:solidFill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sz="2000" dirty="0">
                <a:solidFill>
                  <a:srgbClr val="464646"/>
                </a:solidFill>
              </a:rPr>
              <a:t>Zastosowanie </a:t>
            </a:r>
            <a:r>
              <a:rPr lang="pl-PL" sz="2000" b="1" dirty="0">
                <a:solidFill>
                  <a:srgbClr val="464646"/>
                </a:solidFill>
              </a:rPr>
              <a:t>LinearSVR.</a:t>
            </a:r>
            <a:endParaRPr lang="pl-PL" sz="2000" dirty="0">
              <a:solidFill>
                <a:srgbClr val="464646"/>
              </a:solidFill>
            </a:endParaRPr>
          </a:p>
          <a:p>
            <a:pPr>
              <a:lnSpc>
                <a:spcPct val="120000"/>
              </a:lnSpc>
              <a:defRPr sz="2000"/>
            </a:pPr>
            <a:r>
              <a:rPr lang="pl-PL" sz="2200" b="1" dirty="0">
                <a:solidFill>
                  <a:srgbClr val="17375E"/>
                </a:solidFill>
              </a:rPr>
              <a:t>Wniosek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sz="2000" dirty="0">
                <a:solidFill>
                  <a:srgbClr val="464646"/>
                </a:solidFill>
              </a:rPr>
              <a:t>Modele liniowe ustępowały Random</a:t>
            </a:r>
            <a:br>
              <a:rPr lang="pl-PL" sz="2000" dirty="0">
                <a:solidFill>
                  <a:srgbClr val="464646"/>
                </a:solidFill>
              </a:rPr>
            </a:br>
            <a:r>
              <a:rPr lang="pl-PL" sz="2000" dirty="0">
                <a:solidFill>
                  <a:srgbClr val="464646"/>
                </a:solidFill>
              </a:rPr>
              <a:t>Forest pod względem jakości.</a:t>
            </a:r>
          </a:p>
          <a:p>
            <a:pPr>
              <a:lnSpc>
                <a:spcPct val="120000"/>
              </a:lnSpc>
              <a:defRPr sz="2000"/>
            </a:pPr>
            <a:endParaRPr lang="pl-PL" dirty="0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BFC2BF44-D802-1E01-14EA-2256012F508F}"/>
              </a:ext>
            </a:extLst>
          </p:cNvPr>
          <p:cNvSpPr/>
          <p:nvPr/>
        </p:nvSpPr>
        <p:spPr>
          <a:xfrm>
            <a:off x="580170" y="805901"/>
            <a:ext cx="5095416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D131C967-5F83-16EE-E45F-DD04052A4ED7}"/>
              </a:ext>
            </a:extLst>
          </p:cNvPr>
          <p:cNvSpPr txBox="1"/>
          <p:nvPr/>
        </p:nvSpPr>
        <p:spPr>
          <a:xfrm>
            <a:off x="6276777" y="952268"/>
            <a:ext cx="5307415" cy="35763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🌿</a:t>
            </a:r>
            <a:r>
              <a:rPr lang="pl-PL" sz="2400" b="1" dirty="0">
                <a:solidFill>
                  <a:srgbClr val="17375E"/>
                </a:solidFill>
              </a:rPr>
              <a:t>Wyzwania zespołowe</a:t>
            </a:r>
            <a:endParaRPr lang="pl-PL" sz="2400" i="1" dirty="0">
              <a:solidFill>
                <a:srgbClr val="17375E"/>
              </a:solidFill>
            </a:endParaRPr>
          </a:p>
          <a:p>
            <a:pPr>
              <a:lnSpc>
                <a:spcPct val="120000"/>
              </a:lnSpc>
              <a:defRPr sz="2000"/>
            </a:pPr>
            <a:r>
              <a:rPr lang="pl-PL" sz="2200" b="1" dirty="0">
                <a:solidFill>
                  <a:srgbClr val="17375E"/>
                </a:solidFill>
              </a:rPr>
              <a:t>Problem</a:t>
            </a:r>
            <a:endParaRPr lang="pl-PL" sz="2200" dirty="0">
              <a:solidFill>
                <a:srgbClr val="17375E"/>
              </a:solidFill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sz="2000" dirty="0">
                <a:solidFill>
                  <a:srgbClr val="464646"/>
                </a:solidFill>
              </a:rPr>
              <a:t>Koordynacja pracy na wielu branchach,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sz="2000" dirty="0" err="1">
                <a:solidFill>
                  <a:srgbClr val="464646"/>
                </a:solidFill>
              </a:rPr>
              <a:t>Merge</a:t>
            </a:r>
            <a:r>
              <a:rPr lang="pl-PL" sz="2000" dirty="0">
                <a:solidFill>
                  <a:srgbClr val="464646"/>
                </a:solidFill>
              </a:rPr>
              <a:t> conflicts.</a:t>
            </a:r>
          </a:p>
          <a:p>
            <a:pPr>
              <a:lnSpc>
                <a:spcPct val="120000"/>
              </a:lnSpc>
              <a:defRPr sz="2000"/>
            </a:pPr>
            <a:r>
              <a:rPr lang="pl-PL" sz="2200" b="1" dirty="0">
                <a:solidFill>
                  <a:srgbClr val="17375E"/>
                </a:solidFill>
              </a:rPr>
              <a:t>Rozwiązanie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sz="2000" dirty="0">
                <a:solidFill>
                  <a:srgbClr val="464646"/>
                </a:solidFill>
              </a:rPr>
              <a:t>Lepsze </a:t>
            </a:r>
            <a:r>
              <a:rPr lang="pl-PL" sz="2000" b="1" dirty="0">
                <a:solidFill>
                  <a:srgbClr val="464646"/>
                </a:solidFill>
              </a:rPr>
              <a:t>nazewnictwo</a:t>
            </a:r>
            <a:r>
              <a:rPr lang="pl-PL" sz="2000" dirty="0">
                <a:solidFill>
                  <a:srgbClr val="464646"/>
                </a:solidFill>
              </a:rPr>
              <a:t> </a:t>
            </a:r>
            <a:r>
              <a:rPr lang="pl-PL" sz="2000" dirty="0" err="1">
                <a:solidFill>
                  <a:srgbClr val="464646"/>
                </a:solidFill>
              </a:rPr>
              <a:t>branchy</a:t>
            </a:r>
            <a:r>
              <a:rPr lang="pl-PL" sz="2000" dirty="0">
                <a:solidFill>
                  <a:srgbClr val="464646"/>
                </a:solidFill>
              </a:rPr>
              <a:t>,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sz="2000" b="1" dirty="0" err="1">
                <a:solidFill>
                  <a:srgbClr val="464646"/>
                </a:solidFill>
              </a:rPr>
              <a:t>Pull</a:t>
            </a:r>
            <a:r>
              <a:rPr lang="pl-PL" sz="2000" b="1" dirty="0">
                <a:solidFill>
                  <a:srgbClr val="464646"/>
                </a:solidFill>
              </a:rPr>
              <a:t> Request + </a:t>
            </a:r>
            <a:r>
              <a:rPr lang="pl-PL" sz="2000" b="1" dirty="0" err="1">
                <a:solidFill>
                  <a:srgbClr val="464646"/>
                </a:solidFill>
              </a:rPr>
              <a:t>Code</a:t>
            </a:r>
            <a:r>
              <a:rPr lang="pl-PL" sz="2000" b="1" dirty="0">
                <a:solidFill>
                  <a:srgbClr val="464646"/>
                </a:solidFill>
              </a:rPr>
              <a:t> </a:t>
            </a:r>
            <a:r>
              <a:rPr lang="pl-PL" sz="2000" b="1" dirty="0" err="1">
                <a:solidFill>
                  <a:srgbClr val="464646"/>
                </a:solidFill>
              </a:rPr>
              <a:t>Review</a:t>
            </a:r>
            <a:r>
              <a:rPr lang="pl-PL" sz="2000" b="1" dirty="0">
                <a:solidFill>
                  <a:srgbClr val="464646"/>
                </a:solidFill>
              </a:rPr>
              <a:t>, JIRA </a:t>
            </a:r>
            <a:r>
              <a:rPr lang="pl-PL" sz="2000" b="1" dirty="0" err="1">
                <a:solidFill>
                  <a:srgbClr val="464646"/>
                </a:solidFill>
              </a:rPr>
              <a:t>tickets</a:t>
            </a:r>
            <a:r>
              <a:rPr lang="pl-PL" sz="2000" b="1" dirty="0">
                <a:solidFill>
                  <a:srgbClr val="464646"/>
                </a:solidFill>
              </a:rPr>
              <a:t>.</a:t>
            </a:r>
            <a:endParaRPr lang="pl-PL" sz="2000" dirty="0">
              <a:solidFill>
                <a:srgbClr val="464646"/>
              </a:solidFill>
            </a:endParaRPr>
          </a:p>
          <a:p>
            <a:pPr>
              <a:lnSpc>
                <a:spcPct val="120000"/>
              </a:lnSpc>
              <a:defRPr sz="2000"/>
            </a:pPr>
            <a:r>
              <a:rPr lang="pl-PL" sz="2200" b="1" dirty="0">
                <a:solidFill>
                  <a:srgbClr val="17375E"/>
                </a:solidFill>
              </a:rPr>
              <a:t>Wniosek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sz="2000" dirty="0">
                <a:solidFill>
                  <a:srgbClr val="464646"/>
                </a:solidFill>
              </a:rPr>
              <a:t>Lepsza organizacja pracy zespołowej.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8C6754C6-F1D2-540C-ED31-B24551806B55}"/>
              </a:ext>
            </a:extLst>
          </p:cNvPr>
          <p:cNvSpPr txBox="1"/>
          <p:nvPr/>
        </p:nvSpPr>
        <p:spPr>
          <a:xfrm>
            <a:off x="180777" y="5728933"/>
            <a:ext cx="609600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l-PL" b="1" dirty="0"/>
              <a:t>🏆 Projekt dostarczył cennego doświadczenia technicznego</a:t>
            </a:r>
          </a:p>
          <a:p>
            <a:pPr algn="ctr"/>
            <a:r>
              <a:rPr lang="pl-PL" b="1" dirty="0"/>
              <a:t> i zespołowego.</a:t>
            </a:r>
            <a:endParaRPr lang="pl-PL" b="1" dirty="0">
              <a:solidFill>
                <a:srgbClr val="17375E"/>
              </a:solidFill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31D9B61-DA27-D648-C235-534A002441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143" t="32330" r="34214" b="37394"/>
          <a:stretch>
            <a:fillRect/>
          </a:stretch>
        </p:blipFill>
        <p:spPr>
          <a:xfrm>
            <a:off x="6474822" y="4649118"/>
            <a:ext cx="4833409" cy="185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74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98315-88E4-A7EE-348C-4FBB2F31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14A00A-6FE6-F9E1-16BC-20C25688358F}"/>
              </a:ext>
            </a:extLst>
          </p:cNvPr>
          <p:cNvSpPr txBox="1"/>
          <p:nvPr/>
        </p:nvSpPr>
        <p:spPr>
          <a:xfrm>
            <a:off x="548640" y="274320"/>
            <a:ext cx="53331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l-PL" sz="2800" dirty="0">
                <a:solidFill>
                  <a:srgbClr val="17375E"/>
                </a:solidFill>
              </a:rPr>
              <a:t>Wpływ biznesowy i rekomendacje</a:t>
            </a:r>
            <a:endParaRPr sz="2800" dirty="0">
              <a:solidFill>
                <a:srgbClr val="17375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3D3CD3-6E57-9C67-E6D4-03AFCA87BC0F}"/>
              </a:ext>
            </a:extLst>
          </p:cNvPr>
          <p:cNvSpPr txBox="1"/>
          <p:nvPr/>
        </p:nvSpPr>
        <p:spPr>
          <a:xfrm>
            <a:off x="677548" y="1052368"/>
            <a:ext cx="5806398" cy="5201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📈</a:t>
            </a:r>
            <a:r>
              <a:rPr lang="pl-PL" sz="2400" b="1" dirty="0">
                <a:solidFill>
                  <a:srgbClr val="17375E"/>
                </a:solidFill>
              </a:rPr>
              <a:t>Wpływ biznesowy</a:t>
            </a:r>
          </a:p>
          <a:p>
            <a:pPr>
              <a:lnSpc>
                <a:spcPct val="120000"/>
              </a:lnSpc>
              <a:defRPr sz="2000"/>
            </a:pPr>
            <a:endParaRPr lang="pl-PL" sz="2200" b="1" dirty="0">
              <a:solidFill>
                <a:srgbClr val="17375E"/>
              </a:solidFill>
            </a:endParaRPr>
          </a:p>
          <a:p>
            <a:pPr>
              <a:lnSpc>
                <a:spcPct val="120000"/>
              </a:lnSpc>
              <a:defRPr sz="2000"/>
            </a:pPr>
            <a:r>
              <a:rPr lang="pl-PL" sz="2400" dirty="0"/>
              <a:t>📦</a:t>
            </a:r>
            <a:r>
              <a:rPr lang="pl-PL" sz="2200" b="1" dirty="0">
                <a:solidFill>
                  <a:srgbClr val="17375E"/>
                </a:solidFill>
              </a:rPr>
              <a:t>Optymalizacja dostaw i zapasów</a:t>
            </a:r>
          </a:p>
          <a:p>
            <a:pPr>
              <a:lnSpc>
                <a:spcPct val="120000"/>
              </a:lnSpc>
              <a:defRPr sz="2000"/>
            </a:pPr>
            <a:r>
              <a:rPr lang="pl-PL" sz="2000" dirty="0"/>
              <a:t>	</a:t>
            </a:r>
            <a:r>
              <a:rPr lang="pl-PL" sz="2000" dirty="0">
                <a:solidFill>
                  <a:srgbClr val="464646"/>
                </a:solidFill>
              </a:rPr>
              <a:t>✅ Ponad </a:t>
            </a:r>
            <a:r>
              <a:rPr lang="pl-PL" sz="2000" b="1" dirty="0">
                <a:solidFill>
                  <a:srgbClr val="464646"/>
                </a:solidFill>
              </a:rPr>
              <a:t>60% mniejszy błąd prognozy,</a:t>
            </a:r>
          </a:p>
          <a:p>
            <a:pPr>
              <a:lnSpc>
                <a:spcPct val="120000"/>
              </a:lnSpc>
              <a:defRPr sz="2000"/>
            </a:pPr>
            <a:r>
              <a:rPr lang="pl-PL" sz="2000" dirty="0">
                <a:solidFill>
                  <a:srgbClr val="464646"/>
                </a:solidFill>
              </a:rPr>
              <a:t>	✅ </a:t>
            </a:r>
            <a:r>
              <a:rPr lang="pl-PL" sz="2000" b="1" dirty="0">
                <a:solidFill>
                  <a:srgbClr val="464646"/>
                </a:solidFill>
              </a:rPr>
              <a:t>82,8% wyjaśnionej zmienności sprzedaży,</a:t>
            </a:r>
          </a:p>
          <a:p>
            <a:pPr>
              <a:lnSpc>
                <a:spcPct val="120000"/>
              </a:lnSpc>
              <a:defRPr sz="2000"/>
            </a:pPr>
            <a:r>
              <a:rPr lang="pl-PL" sz="2000" dirty="0">
                <a:solidFill>
                  <a:srgbClr val="464646"/>
                </a:solidFill>
              </a:rPr>
              <a:t>	✅ Mniejsze ryzyko braków towarów,</a:t>
            </a:r>
          </a:p>
          <a:p>
            <a:pPr>
              <a:lnSpc>
                <a:spcPct val="120000"/>
              </a:lnSpc>
              <a:defRPr sz="2000"/>
            </a:pPr>
            <a:r>
              <a:rPr lang="pl-PL" sz="2000" dirty="0">
                <a:solidFill>
                  <a:srgbClr val="464646"/>
                </a:solidFill>
              </a:rPr>
              <a:t>	✅ Lepsza rotacja zapasów,</a:t>
            </a:r>
          </a:p>
          <a:p>
            <a:pPr>
              <a:lnSpc>
                <a:spcPct val="120000"/>
              </a:lnSpc>
              <a:defRPr sz="2000"/>
            </a:pPr>
            <a:r>
              <a:rPr lang="pl-PL" sz="2000" dirty="0">
                <a:solidFill>
                  <a:srgbClr val="464646"/>
                </a:solidFill>
              </a:rPr>
              <a:t>	✅ Ograniczenie nadmiernych zapasów.</a:t>
            </a:r>
            <a:r>
              <a:rPr lang="pl-PL" sz="2200" b="1" dirty="0">
                <a:solidFill>
                  <a:srgbClr val="464646"/>
                </a:solidFill>
              </a:rPr>
              <a:t>	</a:t>
            </a:r>
          </a:p>
          <a:p>
            <a:pPr>
              <a:lnSpc>
                <a:spcPct val="120000"/>
              </a:lnSpc>
              <a:defRPr sz="2000"/>
            </a:pPr>
            <a:endParaRPr lang="pl-PL" sz="2200" b="1" dirty="0">
              <a:solidFill>
                <a:srgbClr val="17375E"/>
              </a:solidFill>
            </a:endParaRPr>
          </a:p>
          <a:p>
            <a:pPr>
              <a:lnSpc>
                <a:spcPct val="120000"/>
              </a:lnSpc>
              <a:defRPr sz="2000"/>
            </a:pPr>
            <a:r>
              <a:rPr lang="pl-PL" sz="2400" dirty="0"/>
              <a:t>💰</a:t>
            </a:r>
            <a:r>
              <a:rPr lang="pl-PL" sz="2200" b="1" dirty="0">
                <a:solidFill>
                  <a:srgbClr val="17375E"/>
                </a:solidFill>
              </a:rPr>
              <a:t>Efektywność kapitałowa</a:t>
            </a:r>
          </a:p>
          <a:p>
            <a:pPr lvl="1">
              <a:lnSpc>
                <a:spcPct val="120000"/>
              </a:lnSpc>
              <a:defRPr sz="2000"/>
            </a:pPr>
            <a:r>
              <a:rPr lang="pl-PL" sz="2000" dirty="0"/>
              <a:t>✅ </a:t>
            </a:r>
            <a:r>
              <a:rPr lang="pl-PL" sz="2000" dirty="0">
                <a:solidFill>
                  <a:srgbClr val="464646"/>
                </a:solidFill>
              </a:rPr>
              <a:t>Lepsze zarządzanie zapasami,</a:t>
            </a:r>
          </a:p>
          <a:p>
            <a:pPr lvl="1">
              <a:lnSpc>
                <a:spcPct val="120000"/>
              </a:lnSpc>
              <a:defRPr sz="2000"/>
            </a:pPr>
            <a:r>
              <a:rPr lang="pl-PL" sz="2000" dirty="0"/>
              <a:t>✅ </a:t>
            </a:r>
            <a:r>
              <a:rPr lang="pl-PL" sz="2000" dirty="0">
                <a:solidFill>
                  <a:srgbClr val="464646"/>
                </a:solidFill>
              </a:rPr>
              <a:t>Mniejsze zamrożenie kapitału w magazynach.</a:t>
            </a:r>
          </a:p>
          <a:p>
            <a:pPr>
              <a:lnSpc>
                <a:spcPct val="120000"/>
              </a:lnSpc>
              <a:defRPr sz="2000"/>
            </a:pPr>
            <a:endParaRPr lang="pl-PL" dirty="0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4ED0141B-B903-D8FE-1EEF-C85E016A0BC8}"/>
              </a:ext>
            </a:extLst>
          </p:cNvPr>
          <p:cNvSpPr/>
          <p:nvPr/>
        </p:nvSpPr>
        <p:spPr>
          <a:xfrm>
            <a:off x="580170" y="805901"/>
            <a:ext cx="5095416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ACB30247-AE6F-66E4-5EA7-284CD1DDA600}"/>
              </a:ext>
            </a:extLst>
          </p:cNvPr>
          <p:cNvSpPr txBox="1"/>
          <p:nvPr/>
        </p:nvSpPr>
        <p:spPr>
          <a:xfrm>
            <a:off x="6483946" y="2804213"/>
            <a:ext cx="4763676" cy="12495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🚀</a:t>
            </a:r>
            <a:r>
              <a:rPr lang="pl-PL" sz="2200" b="1" dirty="0">
                <a:solidFill>
                  <a:srgbClr val="17375E"/>
                </a:solidFill>
              </a:rPr>
              <a:t>Rekomendacja</a:t>
            </a:r>
            <a:endParaRPr lang="pl-PL" sz="2200" i="1" dirty="0">
              <a:solidFill>
                <a:srgbClr val="17375E"/>
              </a:solidFill>
            </a:endParaRPr>
          </a:p>
          <a:p>
            <a:pPr marL="800100" lvl="1" indent="-342900">
              <a:lnSpc>
                <a:spcPct val="12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/>
            </a:pPr>
            <a:r>
              <a:rPr lang="pl-PL" sz="2000" dirty="0">
                <a:solidFill>
                  <a:srgbClr val="464646"/>
                </a:solidFill>
              </a:rPr>
              <a:t>Wdrożenie modelu </a:t>
            </a:r>
            <a:r>
              <a:rPr lang="pl-PL" sz="2000" b="1" dirty="0">
                <a:solidFill>
                  <a:srgbClr val="464646"/>
                </a:solidFill>
              </a:rPr>
              <a:t>Random Forest,</a:t>
            </a:r>
          </a:p>
          <a:p>
            <a:pPr marL="800100" lvl="1" indent="-342900">
              <a:lnSpc>
                <a:spcPct val="120000"/>
              </a:lnSpc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/>
            </a:pPr>
            <a:r>
              <a:rPr lang="pl-PL" sz="2000" dirty="0">
                <a:solidFill>
                  <a:srgbClr val="464646"/>
                </a:solidFill>
              </a:rPr>
              <a:t>Pilotaż w środowisku produkcyjnym.</a:t>
            </a:r>
            <a:endParaRPr lang="pl-PL" sz="2000" b="1" dirty="0">
              <a:solidFill>
                <a:srgbClr val="464646"/>
              </a:solidFill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D5BDDF7B-DB82-3F95-3DDC-6AEFEF6A03B6}"/>
              </a:ext>
            </a:extLst>
          </p:cNvPr>
          <p:cNvSpPr txBox="1"/>
          <p:nvPr/>
        </p:nvSpPr>
        <p:spPr>
          <a:xfrm>
            <a:off x="3215203" y="5937349"/>
            <a:ext cx="609600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l-PL" b="1" dirty="0"/>
              <a:t>🏆 Model może usprawnić planowanie sprzedaży </a:t>
            </a:r>
          </a:p>
          <a:p>
            <a:pPr algn="ctr"/>
            <a:r>
              <a:rPr lang="pl-PL" b="1" dirty="0"/>
              <a:t>i zarządzanie zapasami.</a:t>
            </a:r>
            <a:endParaRPr lang="pl-PL" b="1" dirty="0">
              <a:solidFill>
                <a:srgbClr val="1737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56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CC7D4-D1DF-9E66-4C5E-BE0646F5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309165-7FFF-2C89-9A93-BB1D3CCE0DB9}"/>
              </a:ext>
            </a:extLst>
          </p:cNvPr>
          <p:cNvSpPr txBox="1"/>
          <p:nvPr/>
        </p:nvSpPr>
        <p:spPr>
          <a:xfrm>
            <a:off x="548640" y="274320"/>
            <a:ext cx="371287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l-PL" sz="2800" dirty="0">
                <a:solidFill>
                  <a:srgbClr val="17375E"/>
                </a:solidFill>
              </a:rPr>
              <a:t>Dalsze kroki (</a:t>
            </a:r>
            <a:r>
              <a:rPr lang="pl-PL" sz="2800" dirty="0" err="1">
                <a:solidFill>
                  <a:srgbClr val="17375E"/>
                </a:solidFill>
              </a:rPr>
              <a:t>Roadmap</a:t>
            </a:r>
            <a:r>
              <a:rPr lang="pl-PL" sz="2800" dirty="0">
                <a:solidFill>
                  <a:srgbClr val="17375E"/>
                </a:solidFill>
              </a:rPr>
              <a:t>)</a:t>
            </a:r>
            <a:endParaRPr sz="2800" dirty="0">
              <a:solidFill>
                <a:srgbClr val="17375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DC7104-BCCD-8CF1-045B-4523B1B9817A}"/>
              </a:ext>
            </a:extLst>
          </p:cNvPr>
          <p:cNvSpPr txBox="1"/>
          <p:nvPr/>
        </p:nvSpPr>
        <p:spPr>
          <a:xfrm>
            <a:off x="731520" y="1404908"/>
            <a:ext cx="4792787" cy="35394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🚀</a:t>
            </a:r>
            <a:r>
              <a:rPr lang="pl-PL" sz="2200" b="1" dirty="0">
                <a:solidFill>
                  <a:srgbClr val="17375E"/>
                </a:solidFill>
              </a:rPr>
              <a:t>Rozwój modeli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Testy XGBoost i LightGBM,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dirty="0">
                <a:solidFill>
                  <a:srgbClr val="464646"/>
                </a:solidFill>
              </a:rPr>
              <a:t>Porównanie jakości i czasu predykcji.</a:t>
            </a:r>
          </a:p>
          <a:p>
            <a:pPr>
              <a:lnSpc>
                <a:spcPct val="120000"/>
              </a:lnSpc>
              <a:defRPr sz="2000"/>
            </a:pPr>
            <a:endParaRPr lang="pl-PL" dirty="0">
              <a:solidFill>
                <a:srgbClr val="464646"/>
              </a:solidFill>
            </a:endParaRPr>
          </a:p>
          <a:p>
            <a:pPr>
              <a:lnSpc>
                <a:spcPct val="120000"/>
              </a:lnSpc>
              <a:defRPr sz="2000"/>
            </a:pPr>
            <a:r>
              <a:rPr lang="pl-PL" sz="2400" dirty="0"/>
              <a:t>🌍</a:t>
            </a:r>
            <a:r>
              <a:rPr lang="pl-PL" sz="2200" b="1" dirty="0">
                <a:solidFill>
                  <a:srgbClr val="17375E"/>
                </a:solidFill>
              </a:rPr>
              <a:t>Nowe źródła danych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sz="2000" dirty="0">
                <a:solidFill>
                  <a:srgbClr val="464646"/>
                </a:solidFill>
              </a:rPr>
              <a:t>Pogoda,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sz="2000" dirty="0">
                <a:solidFill>
                  <a:srgbClr val="464646"/>
                </a:solidFill>
              </a:rPr>
              <a:t>Dane makroekonomiczne,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sz="2000" dirty="0">
                <a:solidFill>
                  <a:srgbClr val="464646"/>
                </a:solidFill>
              </a:rPr>
              <a:t>Święta i wydarzenia lokalne.</a:t>
            </a:r>
          </a:p>
          <a:p>
            <a:pPr>
              <a:lnSpc>
                <a:spcPct val="120000"/>
              </a:lnSpc>
              <a:defRPr sz="2000"/>
            </a:pPr>
            <a:endParaRPr lang="pl-PL" dirty="0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C4976A09-49A9-6592-120A-F672DF550A86}"/>
              </a:ext>
            </a:extLst>
          </p:cNvPr>
          <p:cNvSpPr/>
          <p:nvPr/>
        </p:nvSpPr>
        <p:spPr>
          <a:xfrm>
            <a:off x="580170" y="805901"/>
            <a:ext cx="5095416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552DCEBD-1DEC-011F-67CA-EE8030CEACCC}"/>
              </a:ext>
            </a:extLst>
          </p:cNvPr>
          <p:cNvSpPr txBox="1"/>
          <p:nvPr/>
        </p:nvSpPr>
        <p:spPr>
          <a:xfrm>
            <a:off x="6260568" y="2208810"/>
            <a:ext cx="4666662" cy="12495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000"/>
            </a:pPr>
            <a:r>
              <a:rPr lang="pl-PL" sz="2400" dirty="0"/>
              <a:t>⚙️</a:t>
            </a:r>
            <a:r>
              <a:rPr lang="pl-PL" sz="2200" b="1" dirty="0">
                <a:solidFill>
                  <a:srgbClr val="17375E"/>
                </a:solidFill>
              </a:rPr>
              <a:t>Automatyzacja</a:t>
            </a:r>
            <a:endParaRPr lang="pl-PL" sz="2200" i="1" dirty="0">
              <a:solidFill>
                <a:srgbClr val="17375E"/>
              </a:solidFill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sz="2000" dirty="0">
                <a:solidFill>
                  <a:srgbClr val="464646"/>
                </a:solidFill>
              </a:rPr>
              <a:t>Comiesięczny retraining modelu,</a:t>
            </a:r>
            <a:endParaRPr lang="pl-PL" sz="2000" b="1" dirty="0">
              <a:solidFill>
                <a:srgbClr val="464646"/>
              </a:solidFill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 sz="2000"/>
            </a:pPr>
            <a:r>
              <a:rPr lang="pl-PL" sz="2000" dirty="0">
                <a:solidFill>
                  <a:srgbClr val="464646"/>
                </a:solidFill>
              </a:rPr>
              <a:t>Automatyczny pipeline retrainingu.</a:t>
            </a:r>
            <a:endParaRPr lang="pl-PL" sz="2000" b="1" dirty="0">
              <a:solidFill>
                <a:srgbClr val="464646"/>
              </a:solidFill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4119CBC8-445F-4657-83EF-D4F78AF373D6}"/>
              </a:ext>
            </a:extLst>
          </p:cNvPr>
          <p:cNvSpPr txBox="1"/>
          <p:nvPr/>
        </p:nvSpPr>
        <p:spPr>
          <a:xfrm>
            <a:off x="2829731" y="5020572"/>
            <a:ext cx="6861673" cy="9541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l-PL" b="1" dirty="0"/>
              <a:t>🏆</a:t>
            </a:r>
            <a:r>
              <a:rPr lang="pl-PL" dirty="0"/>
              <a:t> </a:t>
            </a:r>
            <a:r>
              <a:rPr lang="pl-PL" sz="2000" b="1" dirty="0"/>
              <a:t>Projekt jest gotowy do pilotażowego wdrożenia.</a:t>
            </a:r>
          </a:p>
          <a:p>
            <a:pPr algn="ctr"/>
            <a:r>
              <a:rPr lang="pl-PL" dirty="0"/>
              <a:t>Kolejne etapy koncentrują się na dalszym zwiększaniu dokładności </a:t>
            </a:r>
          </a:p>
          <a:p>
            <a:pPr algn="ctr"/>
            <a:r>
              <a:rPr lang="pl-PL" dirty="0"/>
              <a:t>i automatyzacji procesu prognozowania.</a:t>
            </a:r>
            <a:endParaRPr lang="pl-PL" dirty="0">
              <a:solidFill>
                <a:srgbClr val="1737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3C3D7-826C-1341-0B59-761C5D68C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EB0D8C-761C-C515-0908-B4AA6B574A43}"/>
              </a:ext>
            </a:extLst>
          </p:cNvPr>
          <p:cNvSpPr txBox="1"/>
          <p:nvPr/>
        </p:nvSpPr>
        <p:spPr>
          <a:xfrm>
            <a:off x="548640" y="274320"/>
            <a:ext cx="7409401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/>
            </a:pPr>
            <a:r>
              <a:rPr kumimoji="0" lang="pl-PL" sz="3800" b="1" i="0" u="none" strike="noStrike" kern="1200" cap="none" spc="0" normalizeH="0" baseline="0" noProof="0" dirty="0">
                <a:ln>
                  <a:noFill/>
                </a:ln>
                <a:solidFill>
                  <a:srgbClr val="17375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Predykcja Popytu w Sieci Rossmann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6C24F1-9309-AD4C-8DF4-4BEE26F9938D}"/>
              </a:ext>
            </a:extLst>
          </p:cNvPr>
          <p:cNvSpPr txBox="1"/>
          <p:nvPr/>
        </p:nvSpPr>
        <p:spPr>
          <a:xfrm>
            <a:off x="4253340" y="2988879"/>
            <a:ext cx="184731" cy="14489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endParaRPr kumimoji="0" lang="pl-PL" sz="3800" b="1" i="0" u="none" strike="noStrike" kern="1200" cap="none" spc="0" normalizeH="0" baseline="0" noProof="0" dirty="0">
              <a:ln>
                <a:noFill/>
              </a:ln>
              <a:solidFill>
                <a:srgbClr val="17375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endParaRPr kumimoji="0" lang="pl-PL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9B2F44F0-BE2D-0B70-53BB-8EFF53E01B5D}"/>
              </a:ext>
            </a:extLst>
          </p:cNvPr>
          <p:cNvSpPr/>
          <p:nvPr/>
        </p:nvSpPr>
        <p:spPr>
          <a:xfrm>
            <a:off x="580170" y="893620"/>
            <a:ext cx="10881360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E124E892-4545-6282-830E-0429A4E596E0}"/>
              </a:ext>
            </a:extLst>
          </p:cNvPr>
          <p:cNvSpPr txBox="1"/>
          <p:nvPr/>
        </p:nvSpPr>
        <p:spPr>
          <a:xfrm>
            <a:off x="661012" y="1596895"/>
            <a:ext cx="1024196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				</a:t>
            </a:r>
            <a:r>
              <a:rPr kumimoji="0" lang="pl-PL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Dziękujemy za uwagę!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	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		         </a:t>
            </a:r>
            <a:r>
              <a:rPr kumimoji="0" lang="pl-P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🌲 Random Forest ➜ 📈 Lepsze prognozy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7617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F76C9-A6B1-0DB5-8FC2-A6232A69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47E8AF-C05E-9A81-6B3B-EDEB3674E571}"/>
              </a:ext>
            </a:extLst>
          </p:cNvPr>
          <p:cNvSpPr txBox="1"/>
          <p:nvPr/>
        </p:nvSpPr>
        <p:spPr>
          <a:xfrm>
            <a:off x="4253340" y="2988879"/>
            <a:ext cx="184731" cy="14489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2000"/>
            </a:pPr>
            <a:endParaRPr lang="pl-PL" sz="3800" b="1" dirty="0">
              <a:solidFill>
                <a:srgbClr val="17375E"/>
              </a:solidFill>
            </a:endParaRPr>
          </a:p>
          <a:p>
            <a:pPr>
              <a:lnSpc>
                <a:spcPct val="120000"/>
              </a:lnSpc>
              <a:defRPr sz="2000"/>
            </a:pPr>
            <a:endParaRPr lang="pl-PL" sz="3800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335E15CE-0B6C-F524-E4AE-218BC358E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407" y="-67113"/>
            <a:ext cx="12808658" cy="69922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99317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1777</Words>
  <Application>Microsoft Office PowerPoint</Application>
  <PresentationFormat>Panoramiczny</PresentationFormat>
  <Paragraphs>218</Paragraphs>
  <Slides>11</Slides>
  <Notes>10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Jan Nowak</dc:creator>
  <cp:keywords/>
  <dc:description>generated using python-pptx</dc:description>
  <cp:lastModifiedBy>Joanna Sawicka</cp:lastModifiedBy>
  <cp:revision>38</cp:revision>
  <dcterms:created xsi:type="dcterms:W3CDTF">2013-01-27T09:14:16Z</dcterms:created>
  <dcterms:modified xsi:type="dcterms:W3CDTF">2026-08-01T07:49:13Z</dcterms:modified>
  <cp:category/>
</cp:coreProperties>
</file>