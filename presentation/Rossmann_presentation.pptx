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6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375E"/>
    <a:srgbClr val="4646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562" autoAdjust="0"/>
  </p:normalViewPr>
  <p:slideViewPr>
    <p:cSldViewPr snapToGrid="0" snapToObjects="1">
      <p:cViewPr varScale="1">
        <p:scale>
          <a:sx n="65" d="100"/>
          <a:sy n="65" d="100"/>
        </p:scale>
        <p:origin x="1330" y="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CF6428-01B2-4553-BA04-947D506BB632}" type="datetimeFigureOut">
              <a:rPr lang="pl-PL" smtClean="0"/>
              <a:t>26.07.2026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395FDD-6113-40F9-B104-49A78CEF58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84760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Na początku zdefiniowaliśmy problem biznesowy, z którym mierzyła się sieć Rossmann. Brak dokładnych prognoz sprzedaży powoduje zarówno braki towarów w okresach zwiększonego popytu, jak i nadmierne zapasy w spokojniejszych okresach. W obu przypadkach przekłada się to na wyższe koszty i mniej efektywne zarządzanie magazynem.</a:t>
            </a:r>
          </a:p>
          <a:p>
            <a:r>
              <a:rPr lang="pl-PL" dirty="0"/>
              <a:t>Celem naszego projektu było stworzenie modelu Machine Learning, który będzie prognozował sprzedaż z 48-dniowym wyprzedzeniem dla ponad 1100 sklepów. Takie prognozy mogą wspierać planowanie dostaw oraz lepsze zarządzanie zapasami.</a:t>
            </a:r>
          </a:p>
          <a:p>
            <a:r>
              <a:rPr lang="pl-PL" dirty="0"/>
              <a:t>Skuteczność modeli ocenialiśmy za pomocą metryk MAE oraz RMSPE. Naszym celem było uzyskanie jak najniższego błędu prognozy w porównaniu z prostszymi modelami bazowymi.</a:t>
            </a:r>
          </a:p>
          <a:p>
            <a:r>
              <a:rPr lang="pl-PL" dirty="0"/>
              <a:t>Po prawej stronie pokazaliśmy uproszczony schemat całego procesu – od danych historycznych, przez model Machine Learning, aż do prognozy sprzedaży, która wspiera podejmowanie decyzji dotyczących planowania dostaw</a:t>
            </a:r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13105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C8A4-627D-6484-4176-B64F73817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EF092B24-38DE-2C0B-34F2-E790A7AF18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73ACE8C5-72F0-0648-8E83-B35F80B58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Na tym etapie skupiliśmy się na poznaniu danych i przygotowaniu ich do modelowania. Zbiór obejmował historyczną sprzedaż ponad 1100 sklepów Rossmann oraz informacje o promocjach, świętach i statusie otwarcia sklepów.</a:t>
            </a:r>
          </a:p>
          <a:p>
            <a:r>
              <a:rPr lang="pl-PL" dirty="0"/>
              <a:t>W analizie EDA zauważyliśmy wyraźną sezonowość. Sprzedaż zmieniała się zarówno w zależności od dnia tygodnia, jak i miesiąca, a największe wartości występowały w okresie świątecznym. Dodatkowo promocje miały bardzo duży wpływ na poziom sprzedaży.</a:t>
            </a:r>
          </a:p>
          <a:p>
            <a:r>
              <a:rPr lang="pl-PL" dirty="0"/>
              <a:t>Na podstawie tych obserwacji przygotowaliśmy nowe cechy dla modeli. Oprócz cech kalendarzowych wykorzystaliśmy lagi 49 i 56 dni oraz statystyki kroczące, takie jak średnia, odchylenie standardowe i mediana. Dzięki temu model otrzymał więcej informacji o wcześniejszych </a:t>
            </a:r>
            <a:r>
              <a:rPr lang="pl-PL" dirty="0" err="1"/>
              <a:t>zachowaniach</a:t>
            </a:r>
            <a:r>
              <a:rPr lang="pl-PL" dirty="0"/>
              <a:t> sprzedaży.</a:t>
            </a:r>
          </a:p>
          <a:p>
            <a:endParaRPr lang="pl-PL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180399D2-14F4-5B9D-282D-D4F4F980A0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80590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48E19-17AD-3C33-72D8-59F9DA6A4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09672112-8F52-511B-0767-E4F137C99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2BD961F1-2200-100F-181F-CF791624C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Dane zostały podzielone chronologicznie z wykorzystaniem punktu odcięcia 15 czerwca 2015 roku. Dzięki temu model był trenowany wyłącznie na danych historycznych, co pozwoliło uniknąć zjawiska Data </a:t>
            </a:r>
            <a:r>
              <a:rPr lang="pl-PL" dirty="0" err="1"/>
              <a:t>Leakage</a:t>
            </a:r>
            <a:r>
              <a:rPr lang="pl-PL" dirty="0"/>
              <a:t>. Do przygotowania danych wykorzystaliśmy </a:t>
            </a:r>
            <a:r>
              <a:rPr lang="pl-PL" dirty="0" err="1"/>
              <a:t>pipeline</a:t>
            </a:r>
            <a:r>
              <a:rPr lang="pl-PL" dirty="0"/>
              <a:t> zbudowany z użyciem </a:t>
            </a:r>
            <a:r>
              <a:rPr lang="pl-PL" b="1" dirty="0" err="1"/>
              <a:t>ColumnTransformer</a:t>
            </a:r>
            <a:r>
              <a:rPr lang="pl-PL" dirty="0"/>
              <a:t>, który automatyzował transformację danych i zapewniał jednakowy sposób ich przetwarzania dla wszystkich modeli.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FB1767D-46A0-9260-2712-F9BA7D5D8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81833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6B199-B6F2-6EEA-5258-8644AEA40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029D7B66-AA5B-0CB4-1CA7-4BD80EC359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6D997540-31CB-6CF8-A630-A4B627211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Po przygotowaniu danych przeszliśmy do porównania kilku podejść do prognozowania sprzedaży. Punktem odniesienia był model bazowy </a:t>
            </a:r>
            <a:r>
              <a:rPr lang="pl-PL" dirty="0" err="1"/>
              <a:t>DummyRegressor</a:t>
            </a:r>
            <a:r>
              <a:rPr lang="pl-PL" dirty="0"/>
              <a:t>, który przewiduje jedną średnią wartość dla wszystkich obserwacji.</a:t>
            </a:r>
          </a:p>
          <a:p>
            <a:r>
              <a:rPr lang="pl-PL" dirty="0"/>
              <a:t>Następnie sprawdziliśmy prosty model heurystyczny, wykorzystujący średnią sprzedaż dla konkretnego sklepu i dnia tygodnia. Pozwoliło to uwzględnić podstawowe wzorce występujące w danych.</a:t>
            </a:r>
          </a:p>
          <a:p>
            <a:r>
              <a:rPr lang="pl-PL" dirty="0"/>
              <a:t>Kolejnym rozwiązaniem był model </a:t>
            </a:r>
            <a:r>
              <a:rPr lang="pl-PL" dirty="0" err="1"/>
              <a:t>LinearSVR</a:t>
            </a:r>
            <a:r>
              <a:rPr lang="pl-PL" dirty="0"/>
              <a:t>, reprezentujący podejście liniowe. Ostatecznie najlepsze wyniki uzyskał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, który dzięki wykorzystaniu wielu drzew decyzyjnych lepiej wychwycił zależności pomiędzy cechami.</a:t>
            </a:r>
          </a:p>
          <a:p>
            <a:r>
              <a:rPr lang="pl-PL" dirty="0"/>
              <a:t>Jak widać na wykresach, każdy kolejny model zmniejszał błąd prognozy, jednak największą poprawę przyniósł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. Dlatego został wybrany jako model końcowy naszego projektu.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6A1F693F-C914-25EF-0DE3-338D0D0F5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57566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CB345-9CCC-F193-7C58-CDF32F0F9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892C0719-9B9A-4D6B-4E41-C4E4CA8AC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FD85C826-7004-E10E-13D7-8745624CB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Przewagą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 było skuteczne modelowanie nieliniowych zależności występujących w danych. Oznacza to, że potrafił uwzględnić złożone interakcje między cechami, na przykład wpływ promocji w połączeniu z konkretnym dniem tygodnia.</a:t>
            </a:r>
          </a:p>
          <a:p>
            <a:r>
              <a:rPr lang="pl-PL" dirty="0"/>
              <a:t>Dodatkową zaletą było wykorzystanie pełnego zbioru danych bez konieczności ograniczania liczby obserwacji, co miało znaczenie przy dużym wolumenie danych.</a:t>
            </a:r>
          </a:p>
          <a:p>
            <a:r>
              <a:rPr lang="pl-PL" dirty="0"/>
              <a:t>Ostatecznie model osiągnął średni błąd </a:t>
            </a:r>
            <a:r>
              <a:rPr lang="pl-PL" b="1" dirty="0"/>
              <a:t>MAE na poziomie około 899 euro, MAPE 12,8% oraz RMSPE 17,06%</a:t>
            </a:r>
            <a:r>
              <a:rPr lang="pl-PL" dirty="0"/>
              <a:t>. </a:t>
            </a:r>
            <a:r>
              <a:rPr lang="pl-PL" b="1" dirty="0"/>
              <a:t>RMSPE było główną metryką wykorzystywaną podczas strojenia modeli, natomiast MAE i MAPE prezentujemy, ponieważ najlepiej pokazują jakość prognoz z perspektywy biznesowej i są łatwiejsze do interpretacji.</a:t>
            </a:r>
            <a:endParaRPr lang="pl-PL" dirty="0"/>
          </a:p>
          <a:p>
            <a:r>
              <a:rPr lang="pl-PL" dirty="0"/>
              <a:t>Współczynnik </a:t>
            </a:r>
            <a:r>
              <a:rPr lang="pl-PL" b="1" dirty="0"/>
              <a:t>R² wyniósł 0,8281</a:t>
            </a:r>
            <a:r>
              <a:rPr lang="pl-PL" dirty="0"/>
              <a:t>, co oznacza, że model wyjaśnia około </a:t>
            </a:r>
            <a:r>
              <a:rPr lang="pl-PL" b="1" dirty="0"/>
              <a:t>82,8% zmienności sprzedaży</a:t>
            </a:r>
            <a:r>
              <a:rPr lang="pl-PL" dirty="0"/>
              <a:t>. W porównaniu z modelem bazowym udało się zmniejszyć błąd prognozy o ponad </a:t>
            </a:r>
            <a:r>
              <a:rPr lang="pl-PL" b="1" dirty="0"/>
              <a:t>60%</a:t>
            </a:r>
            <a:r>
              <a:rPr lang="pl-PL" dirty="0"/>
              <a:t>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4D1FDCF-589B-70BD-9144-CEA02D8357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926113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931CB-BCC6-5B9D-AC73-8C26CF55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E5A4FA45-42A3-F21E-FE6B-2DC467274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00522403-1B06-7372-79F5-A00F1C91FB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Oprócz porównania modeli napotkaliśmy również kilka praktycznych wyzwań. Pierwszym z nich były ograniczenia obliczeniowe. Model SVR na pełnym zbiorze danych trenował się bardzo długo, dlatego zdecydowaliśmy się na pracę na mniejszej próbce oraz wykorzystanie modelu </a:t>
            </a:r>
            <a:r>
              <a:rPr lang="pl-PL" dirty="0" err="1"/>
              <a:t>LinearSVR</a:t>
            </a:r>
            <a:r>
              <a:rPr lang="pl-PL" dirty="0"/>
              <a:t>. Ostatecznie wyniki potwierdziły, że w tym problemie znacznie lepiej sprawdzają się modele oparte na drzewach decyzyjnych, takie jak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.</a:t>
            </a:r>
          </a:p>
          <a:p>
            <a:r>
              <a:rPr lang="pl-PL" dirty="0"/>
              <a:t>Drugim wyzwaniem była organizacja pracy zespołowej. Pracowaliśmy równolegle na kilku </a:t>
            </a:r>
            <a:r>
              <a:rPr lang="pl-PL" dirty="0" err="1"/>
              <a:t>branchach</a:t>
            </a:r>
            <a:r>
              <a:rPr lang="pl-PL" dirty="0"/>
              <a:t> w GitHubie, co wymagało dobrej koordynacji i regularnego scalania zmian. Dzięki temu zdobyliśmy praktyczne doświadczenie w pracy zespołowej z wykorzystaniem systemu kontroli wersji.</a:t>
            </a:r>
          </a:p>
          <a:p>
            <a:r>
              <a:rPr lang="pl-PL" dirty="0"/>
              <a:t>Te doświadczenia były równie wartościowe jak sam proces budowy modeli, ponieważ pokazały, jak wygląda realizacja projektu Data Science w praktyce.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40A9A9CE-3D86-C182-2E6E-630AFF73D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280732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76752-B4D9-3978-2E39-F32CD6B3E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269F6E82-6E49-EDF9-256B-2F7791BE33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3E72843F-B090-4351-CDE6-4CE4DB05B2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Ostatnim etapem było spojrzenie na projekt z perspektywy biznesowej. Dokładniejsze prognozy sprzedaży mogą wspierać planowanie dostaw i zmniejszać ryzyko braków towarów, szczególnie w okresach promocji i zwiększonego ruchu klientów. Jednocześnie lepsze prognozy pomagają ograniczyć nadmierne zapasy, co przekłada się na efektywniejsze wykorzystanie kapitału. Ze względu na najlepsze wyniki uzyskane podczas testów rekomendujemy model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 jako rozwiązanie do dalszego pilotażu i ewentualnego wdrożenia w środowisku produkcyjnym.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BE810976-35A7-0EB8-1C7B-2A49BE32D8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541214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30387-A6B2-780E-9F8E-0E98B6089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51BA242D-37A5-A720-3428-DDEC36819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D6D7A3A9-7FF2-1191-FD26-E4AD7D2D4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W obecnej pracy skupiliśmy się na stworzeniu skutecznego modelu prognozowania sprzedaży. Kolejnym krokiem mogłoby być przetestowanie bardziej zaawansowanych modeli, takich jak </a:t>
            </a:r>
            <a:r>
              <a:rPr lang="pl-PL" dirty="0" err="1"/>
              <a:t>XGBoost</a:t>
            </a:r>
            <a:r>
              <a:rPr lang="pl-PL" dirty="0"/>
              <a:t> czy </a:t>
            </a:r>
            <a:r>
              <a:rPr lang="pl-PL" dirty="0" err="1"/>
              <a:t>LightGBM</a:t>
            </a:r>
            <a:r>
              <a:rPr lang="pl-PL" dirty="0"/>
              <a:t>, które często zapewniają podobną lub wyższą skuteczność przy krótszym czasie predykcji.</a:t>
            </a:r>
          </a:p>
          <a:p>
            <a:r>
              <a:rPr lang="pl-PL" dirty="0"/>
              <a:t>Warto również rozszerzyć model o dane zewnętrzne, takie jak pogoda, wskaźniki makroekonomiczne czy lokalne wydarzenia, ponieważ mogą one wpływać na poziom sprzedaży.</a:t>
            </a:r>
          </a:p>
          <a:p>
            <a:r>
              <a:rPr lang="pl-PL" dirty="0"/>
              <a:t>Ostatnim etapem byłaby automatyzacja całego procesu poprzez stworzenie </a:t>
            </a:r>
            <a:r>
              <a:rPr lang="pl-PL" dirty="0" err="1"/>
              <a:t>pipeline'u</a:t>
            </a:r>
            <a:r>
              <a:rPr lang="pl-PL" dirty="0"/>
              <a:t>, który raz w miesiącu automatycznie uczyłby model na nowych danych i aktualizował prognozy.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222F0033-9ED0-A663-769A-51D8A07064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162741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0DE66-27C6-95C3-95F6-18CCA5B6A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CE23E1C2-5FF7-9DC5-588A-B7AFFA1D9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82D9BA5C-C9E7-89A1-1C50-54DE66B477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7513C7EC-8A38-A139-704C-9A467CA186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10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66705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76571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sz="3800" dirty="0" err="1">
                <a:solidFill>
                  <a:srgbClr val="17375E"/>
                </a:solidFill>
              </a:rPr>
              <a:t>Predykcja</a:t>
            </a:r>
            <a:r>
              <a:rPr sz="3800" dirty="0">
                <a:solidFill>
                  <a:srgbClr val="17375E"/>
                </a:solidFill>
              </a:rPr>
              <a:t> </a:t>
            </a:r>
            <a:r>
              <a:rPr sz="3800" dirty="0" err="1">
                <a:solidFill>
                  <a:srgbClr val="17375E"/>
                </a:solidFill>
              </a:rPr>
              <a:t>Popytu</a:t>
            </a:r>
            <a:r>
              <a:rPr sz="3800" dirty="0">
                <a:solidFill>
                  <a:srgbClr val="17375E"/>
                </a:solidFill>
              </a:rPr>
              <a:t> w Sieci Rossmann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8022"/>
            <a:ext cx="2107244" cy="33916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17375E"/>
                </a:solidFill>
              </a:rPr>
              <a:t>Autorzy: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Marek Lipiński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Joanna Sawicka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 err="1">
                <a:solidFill>
                  <a:srgbClr val="464646"/>
                </a:solidFill>
              </a:rPr>
              <a:t>Kiryl</a:t>
            </a:r>
            <a:r>
              <a:rPr lang="pl-PL" dirty="0">
                <a:solidFill>
                  <a:srgbClr val="464646"/>
                </a:solidFill>
              </a:rPr>
              <a:t> </a:t>
            </a:r>
            <a:r>
              <a:rPr lang="pl-PL" dirty="0" err="1">
                <a:solidFill>
                  <a:srgbClr val="464646"/>
                </a:solidFill>
              </a:rPr>
              <a:t>Radkevich</a:t>
            </a:r>
            <a:endParaRPr lang="pl-PL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Robert Walkiewicz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endParaRPr lang="pl-PL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endParaRPr lang="pl-PL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endParaRPr lang="pl-PL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endParaRPr lang="pl-PL" dirty="0">
              <a:solidFill>
                <a:srgbClr val="17375E"/>
              </a:solidFill>
            </a:endParaRP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4E7D02FA-CB02-A0D7-3A53-180E1B89F937}"/>
              </a:ext>
            </a:extLst>
          </p:cNvPr>
          <p:cNvSpPr/>
          <p:nvPr/>
        </p:nvSpPr>
        <p:spPr>
          <a:xfrm>
            <a:off x="580170" y="858451"/>
            <a:ext cx="10881360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1">
            <a:extLst>
              <a:ext uri="{FF2B5EF4-FFF2-40B4-BE49-F238E27FC236}">
                <a16:creationId xmlns:a16="http://schemas.microsoft.com/office/drawing/2014/main" id="{960D94B2-DBD2-475F-858D-39789B07626F}"/>
              </a:ext>
            </a:extLst>
          </p:cNvPr>
          <p:cNvSpPr txBox="1"/>
          <p:nvPr/>
        </p:nvSpPr>
        <p:spPr>
          <a:xfrm>
            <a:off x="548640" y="924036"/>
            <a:ext cx="7900945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pl-PL" sz="2200" dirty="0">
                <a:solidFill>
                  <a:srgbClr val="464646"/>
                </a:solidFill>
              </a:rPr>
              <a:t>Projekt Modelowania Maszynowego dla Działu Sprzedaży i Logistyki</a:t>
            </a:r>
            <a:endParaRPr sz="2200" dirty="0">
              <a:solidFill>
                <a:srgbClr val="464646"/>
              </a:solidFill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0EB0EC5B-38BE-BD79-C7D2-3ACFCBB81D5C}"/>
              </a:ext>
            </a:extLst>
          </p:cNvPr>
          <p:cNvSpPr txBox="1"/>
          <p:nvPr/>
        </p:nvSpPr>
        <p:spPr>
          <a:xfrm>
            <a:off x="762000" y="5003620"/>
            <a:ext cx="1620187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Projekt końcowy </a:t>
            </a:r>
            <a:b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Data Science &amp; AI </a:t>
            </a:r>
            <a:b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pl-PL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Infoshare</a:t>
            </a: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pl-PL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Academy</a:t>
            </a: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pPr>
              <a:defRPr sz="2000"/>
            </a:pP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2026 </a:t>
            </a:r>
          </a:p>
          <a:p>
            <a:pPr>
              <a:defRPr sz="2000"/>
            </a:pPr>
            <a:endParaRPr lang="pl-PL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>
              <a:defRPr sz="2000"/>
            </a:pPr>
            <a:endParaRPr lang="pl-PL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B6B701F2-E6BB-5B06-D7C9-3B36B8FA8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5656" y="1491555"/>
            <a:ext cx="8141108" cy="4579041"/>
          </a:xfrm>
          <a:prstGeom prst="rect">
            <a:avLst/>
          </a:prstGeom>
          <a:ln w="0">
            <a:solidFill>
              <a:srgbClr val="17375E"/>
            </a:solidFill>
          </a:ln>
          <a:effectLst>
            <a:softEdge rad="12700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6F66B-4C89-16DA-79DC-0C76AB379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4DC560-87FE-CDFB-81EC-04AA8A59F3E0}"/>
              </a:ext>
            </a:extLst>
          </p:cNvPr>
          <p:cNvSpPr txBox="1"/>
          <p:nvPr/>
        </p:nvSpPr>
        <p:spPr>
          <a:xfrm>
            <a:off x="548640" y="274320"/>
            <a:ext cx="40891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Cel Biznesowy i Wyzwanie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6C1EF7-8036-5DFC-8FE5-F2F606EBCC18}"/>
              </a:ext>
            </a:extLst>
          </p:cNvPr>
          <p:cNvSpPr txBox="1"/>
          <p:nvPr/>
        </p:nvSpPr>
        <p:spPr>
          <a:xfrm>
            <a:off x="731520" y="1108365"/>
            <a:ext cx="5147307" cy="23206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Problem biznesowy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/>
              <a:t>📦Brak dokładnych prognoz powoduje:</a:t>
            </a:r>
            <a:endParaRPr lang="pl-PL" dirty="0">
              <a:solidFill>
                <a:srgbClr val="464646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Braki towarów </a:t>
            </a:r>
            <a:r>
              <a:rPr lang="pl-PL" dirty="0">
                <a:solidFill>
                  <a:srgbClr val="464646"/>
                </a:solidFill>
              </a:rPr>
              <a:t>podczas wzmożonego popytu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      (Out-of-Stock),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Nadmierne zapasy </a:t>
            </a:r>
            <a:r>
              <a:rPr lang="pl-PL" dirty="0">
                <a:solidFill>
                  <a:srgbClr val="464646"/>
                </a:solidFill>
              </a:rPr>
              <a:t>i zamrożenie kapitału,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Trudniejsze planowanie zapasów</a:t>
            </a:r>
            <a:r>
              <a:rPr lang="pl-PL" dirty="0">
                <a:solidFill>
                  <a:srgbClr val="464646"/>
                </a:solidFill>
              </a:rPr>
              <a:t>. 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ABAA72B2-970C-A86E-CF81-874B11351B3D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E0DB0B26-F4F4-474E-97C5-88CEAB7479C9}"/>
              </a:ext>
            </a:extLst>
          </p:cNvPr>
          <p:cNvSpPr txBox="1"/>
          <p:nvPr/>
        </p:nvSpPr>
        <p:spPr>
          <a:xfrm>
            <a:off x="731520" y="3583412"/>
            <a:ext cx="5936112" cy="19513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Cel projektu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/>
              <a:t>🎯Stworzenie modelu ML, który:</a:t>
            </a:r>
            <a:endParaRPr lang="pl-PL" dirty="0">
              <a:solidFill>
                <a:srgbClr val="464646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Prognozuje sprzedaż z 48-dniowym wyprzedzeniem,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Obejmuje ponad 1100 sklepów Rossman,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Wspiera planowanie dostaw i zarządzanie zapasami.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D33B8CF2-0175-5F76-A1DD-EBF33BB34ADC}"/>
              </a:ext>
            </a:extLst>
          </p:cNvPr>
          <p:cNvSpPr txBox="1"/>
          <p:nvPr/>
        </p:nvSpPr>
        <p:spPr>
          <a:xfrm>
            <a:off x="6499469" y="1129385"/>
            <a:ext cx="5790816" cy="19513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Kryteria oceny modelu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/>
              <a:t>📊 </a:t>
            </a:r>
            <a:endParaRPr lang="pl-PL" dirty="0">
              <a:solidFill>
                <a:srgbClr val="464646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MAE</a:t>
            </a:r>
            <a:r>
              <a:rPr lang="pl-PL" dirty="0">
                <a:solidFill>
                  <a:srgbClr val="464646"/>
                </a:solidFill>
              </a:rPr>
              <a:t> – średni błąd prognozy,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RMSPE</a:t>
            </a:r>
            <a:r>
              <a:rPr lang="pl-PL" dirty="0">
                <a:solidFill>
                  <a:srgbClr val="464646"/>
                </a:solidFill>
              </a:rPr>
              <a:t> – procentowy błąd prognozy,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Minimalizacja błędu względem modeli bazowych.</a:t>
            </a:r>
          </a:p>
        </p:txBody>
      </p:sp>
      <p:sp>
        <p:nvSpPr>
          <p:cNvPr id="18" name="Prostokąt 17">
            <a:extLst>
              <a:ext uri="{FF2B5EF4-FFF2-40B4-BE49-F238E27FC236}">
                <a16:creationId xmlns:a16="http://schemas.microsoft.com/office/drawing/2014/main" id="{7CBAC022-3524-479B-C4AB-942FB6532B16}"/>
              </a:ext>
            </a:extLst>
          </p:cNvPr>
          <p:cNvSpPr/>
          <p:nvPr/>
        </p:nvSpPr>
        <p:spPr>
          <a:xfrm>
            <a:off x="6626767" y="3230772"/>
            <a:ext cx="2129397" cy="70208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tx1"/>
                </a:solidFill>
              </a:rPr>
              <a:t>Dane historyczne</a:t>
            </a:r>
          </a:p>
        </p:txBody>
      </p:sp>
      <p:sp>
        <p:nvSpPr>
          <p:cNvPr id="20" name="Prostokąt 19">
            <a:extLst>
              <a:ext uri="{FF2B5EF4-FFF2-40B4-BE49-F238E27FC236}">
                <a16:creationId xmlns:a16="http://schemas.microsoft.com/office/drawing/2014/main" id="{9B75C48A-16C3-6C7B-A5F2-2D412D8D67DC}"/>
              </a:ext>
            </a:extLst>
          </p:cNvPr>
          <p:cNvSpPr/>
          <p:nvPr/>
        </p:nvSpPr>
        <p:spPr>
          <a:xfrm>
            <a:off x="7390803" y="4088453"/>
            <a:ext cx="2129397" cy="702087"/>
          </a:xfrm>
          <a:prstGeom prst="rect">
            <a:avLst/>
          </a:prstGeom>
          <a:solidFill>
            <a:srgbClr val="1737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bg1"/>
                </a:solidFill>
              </a:rPr>
              <a:t>Model ML</a:t>
            </a:r>
          </a:p>
        </p:txBody>
      </p:sp>
      <p:sp>
        <p:nvSpPr>
          <p:cNvPr id="22" name="Prostokąt 21">
            <a:extLst>
              <a:ext uri="{FF2B5EF4-FFF2-40B4-BE49-F238E27FC236}">
                <a16:creationId xmlns:a16="http://schemas.microsoft.com/office/drawing/2014/main" id="{66B15E2F-934B-83D4-414D-54799FB1CCD3}"/>
              </a:ext>
            </a:extLst>
          </p:cNvPr>
          <p:cNvSpPr/>
          <p:nvPr/>
        </p:nvSpPr>
        <p:spPr>
          <a:xfrm>
            <a:off x="8445056" y="4946134"/>
            <a:ext cx="2129397" cy="70208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tx1"/>
                </a:solidFill>
              </a:rPr>
              <a:t>Prognoza sprzedaży</a:t>
            </a:r>
          </a:p>
        </p:txBody>
      </p:sp>
      <p:sp>
        <p:nvSpPr>
          <p:cNvPr id="24" name="Prostokąt 23">
            <a:extLst>
              <a:ext uri="{FF2B5EF4-FFF2-40B4-BE49-F238E27FC236}">
                <a16:creationId xmlns:a16="http://schemas.microsoft.com/office/drawing/2014/main" id="{4A6CCD23-474D-8781-4DF4-9C9D98129608}"/>
              </a:ext>
            </a:extLst>
          </p:cNvPr>
          <p:cNvSpPr/>
          <p:nvPr/>
        </p:nvSpPr>
        <p:spPr>
          <a:xfrm>
            <a:off x="9431978" y="5803815"/>
            <a:ext cx="2129397" cy="702087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tx1"/>
                </a:solidFill>
              </a:rPr>
              <a:t>Lepsze planowanie dostaw</a:t>
            </a:r>
          </a:p>
        </p:txBody>
      </p:sp>
      <p:cxnSp>
        <p:nvCxnSpPr>
          <p:cNvPr id="26" name="Łącznik prosty ze strzałką 25">
            <a:extLst>
              <a:ext uri="{FF2B5EF4-FFF2-40B4-BE49-F238E27FC236}">
                <a16:creationId xmlns:a16="http://schemas.microsoft.com/office/drawing/2014/main" id="{618B73FD-B3E2-8F7C-E3CD-39082FBE98A9}"/>
              </a:ext>
            </a:extLst>
          </p:cNvPr>
          <p:cNvCxnSpPr>
            <a:cxnSpLocks/>
          </p:cNvCxnSpPr>
          <p:nvPr/>
        </p:nvCxnSpPr>
        <p:spPr>
          <a:xfrm>
            <a:off x="8576438" y="3932859"/>
            <a:ext cx="0" cy="20005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Łącznik prosty ze strzałką 26">
            <a:extLst>
              <a:ext uri="{FF2B5EF4-FFF2-40B4-BE49-F238E27FC236}">
                <a16:creationId xmlns:a16="http://schemas.microsoft.com/office/drawing/2014/main" id="{536F5BCF-4062-8387-595E-3C6A7532F27D}"/>
              </a:ext>
            </a:extLst>
          </p:cNvPr>
          <p:cNvCxnSpPr>
            <a:cxnSpLocks/>
          </p:cNvCxnSpPr>
          <p:nvPr/>
        </p:nvCxnSpPr>
        <p:spPr>
          <a:xfrm>
            <a:off x="9447744" y="4790540"/>
            <a:ext cx="0" cy="20005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Łącznik prosty ze strzałką 27">
            <a:extLst>
              <a:ext uri="{FF2B5EF4-FFF2-40B4-BE49-F238E27FC236}">
                <a16:creationId xmlns:a16="http://schemas.microsoft.com/office/drawing/2014/main" id="{9944C8D8-DDC9-357D-5533-6651E26D305A}"/>
              </a:ext>
            </a:extLst>
          </p:cNvPr>
          <p:cNvCxnSpPr>
            <a:cxnSpLocks/>
          </p:cNvCxnSpPr>
          <p:nvPr/>
        </p:nvCxnSpPr>
        <p:spPr>
          <a:xfrm>
            <a:off x="10436768" y="5637711"/>
            <a:ext cx="0" cy="21056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265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56ACD-FC2E-95A3-B11D-070D8B0A4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301E53-7070-FB00-3748-D769BAF646F7}"/>
              </a:ext>
            </a:extLst>
          </p:cNvPr>
          <p:cNvSpPr txBox="1"/>
          <p:nvPr/>
        </p:nvSpPr>
        <p:spPr>
          <a:xfrm>
            <a:off x="548640" y="274320"/>
            <a:ext cx="679551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Dane i odkrycia (EDA &amp; </a:t>
            </a:r>
            <a:r>
              <a:rPr lang="pl-PL" sz="2800" dirty="0" err="1">
                <a:solidFill>
                  <a:srgbClr val="17375E"/>
                </a:solidFill>
              </a:rPr>
              <a:t>Feature</a:t>
            </a:r>
            <a:r>
              <a:rPr lang="pl-PL" sz="2800" dirty="0">
                <a:solidFill>
                  <a:srgbClr val="17375E"/>
                </a:solidFill>
              </a:rPr>
              <a:t> Engineering)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CCF5E1-031F-FE2B-35A7-66CB12F619A3}"/>
              </a:ext>
            </a:extLst>
          </p:cNvPr>
          <p:cNvSpPr txBox="1"/>
          <p:nvPr/>
        </p:nvSpPr>
        <p:spPr>
          <a:xfrm>
            <a:off x="731520" y="1108365"/>
            <a:ext cx="5344733" cy="2357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📂</a:t>
            </a:r>
            <a:r>
              <a:rPr lang="pl-PL" sz="2200" b="1" dirty="0">
                <a:solidFill>
                  <a:srgbClr val="17375E"/>
                </a:solidFill>
              </a:rPr>
              <a:t>Zbiór danych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Historyczne dane sprzedażowe sieci </a:t>
            </a:r>
            <a:r>
              <a:rPr lang="pl-PL" b="1" dirty="0">
                <a:solidFill>
                  <a:srgbClr val="464646"/>
                </a:solidFill>
              </a:rPr>
              <a:t>Rossman,</a:t>
            </a:r>
            <a:endParaRPr lang="pl-PL" dirty="0">
              <a:solidFill>
                <a:srgbClr val="464646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Ponad</a:t>
            </a:r>
            <a:r>
              <a:rPr lang="pl-PL" b="1" dirty="0">
                <a:solidFill>
                  <a:srgbClr val="464646"/>
                </a:solidFill>
              </a:rPr>
              <a:t> 1100 sklepów</a:t>
            </a:r>
            <a:r>
              <a:rPr lang="pl-PL" dirty="0">
                <a:solidFill>
                  <a:srgbClr val="464646"/>
                </a:solidFill>
              </a:rPr>
              <a:t>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Setki tysięcy rekordów,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Uwzględniono sprzedaż, promocje, święta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      oraz status otwarcia sklepów.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42BAE07A-2FB9-6CD8-8746-5BF6FF8296D0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E822B1FC-5008-90A5-B2AB-534234B4DB2D}"/>
              </a:ext>
            </a:extLst>
          </p:cNvPr>
          <p:cNvSpPr txBox="1"/>
          <p:nvPr/>
        </p:nvSpPr>
        <p:spPr>
          <a:xfrm>
            <a:off x="731520" y="3583412"/>
            <a:ext cx="4944367" cy="16189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🔍 </a:t>
            </a:r>
            <a:r>
              <a:rPr lang="pl-PL" sz="2200" b="1" dirty="0">
                <a:solidFill>
                  <a:srgbClr val="17375E"/>
                </a:solidFill>
              </a:rPr>
              <a:t>Najważniejsze obserwacje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Wyraźna sezonowość tygodniowa i roczna,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Wzrost sprzedaży przed świętami,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Promocje znacząco zwiększały sprzedaż.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0FDD66A3-E64E-2485-4054-7B28CB6D1FCB}"/>
              </a:ext>
            </a:extLst>
          </p:cNvPr>
          <p:cNvSpPr txBox="1"/>
          <p:nvPr/>
        </p:nvSpPr>
        <p:spPr>
          <a:xfrm>
            <a:off x="7777655" y="1108365"/>
            <a:ext cx="4071949" cy="19882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200" b="1" dirty="0" err="1">
                <a:solidFill>
                  <a:srgbClr val="17375E"/>
                </a:solidFill>
              </a:rPr>
              <a:t>Feature</a:t>
            </a:r>
            <a:r>
              <a:rPr lang="pl-PL" sz="2200" b="1" dirty="0">
                <a:solidFill>
                  <a:srgbClr val="17375E"/>
                </a:solidFill>
              </a:rPr>
              <a:t> Engineering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Cechy kalendarzowe,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Lagi 49 i 56 dni,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Statystyki kroczące: Rolling </a:t>
            </a:r>
            <a:r>
              <a:rPr lang="pl-PL" dirty="0" err="1">
                <a:solidFill>
                  <a:srgbClr val="464646"/>
                </a:solidFill>
              </a:rPr>
              <a:t>Mean</a:t>
            </a:r>
            <a:r>
              <a:rPr lang="pl-PL" dirty="0">
                <a:solidFill>
                  <a:srgbClr val="464646"/>
                </a:solidFill>
              </a:rPr>
              <a:t>,</a:t>
            </a:r>
            <a:br>
              <a:rPr lang="pl-PL" dirty="0">
                <a:solidFill>
                  <a:srgbClr val="464646"/>
                </a:solidFill>
              </a:rPr>
            </a:br>
            <a:r>
              <a:rPr lang="pl-PL" dirty="0">
                <a:solidFill>
                  <a:srgbClr val="464646"/>
                </a:solidFill>
              </a:rPr>
              <a:t>Rolling </a:t>
            </a:r>
            <a:r>
              <a:rPr lang="pl-PL" dirty="0" err="1">
                <a:solidFill>
                  <a:srgbClr val="464646"/>
                </a:solidFill>
              </a:rPr>
              <a:t>Std</a:t>
            </a:r>
            <a:r>
              <a:rPr lang="pl-PL" dirty="0">
                <a:solidFill>
                  <a:srgbClr val="464646"/>
                </a:solidFill>
              </a:rPr>
              <a:t>, Rolling Median.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ED1B0271-7494-00E8-882E-5817FEB10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390" y="3096602"/>
            <a:ext cx="3453710" cy="1897731"/>
          </a:xfrm>
          <a:prstGeom prst="rect">
            <a:avLst/>
          </a:prstGeom>
          <a:ln w="25400">
            <a:solidFill>
              <a:schemeClr val="bg1">
                <a:lumMod val="50000"/>
              </a:schemeClr>
            </a:solidFill>
          </a:ln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B5854E28-4EE5-80D9-8387-53542517F6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5226" y="4957503"/>
            <a:ext cx="3262160" cy="1777288"/>
          </a:xfrm>
          <a:prstGeom prst="rect">
            <a:avLst/>
          </a:prstGeom>
          <a:ln w="25400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57104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CA16A-FEA1-6AC1-FEDC-F1C6DF5CD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166EE1-307A-7041-A619-341FA633A429}"/>
              </a:ext>
            </a:extLst>
          </p:cNvPr>
          <p:cNvSpPr txBox="1"/>
          <p:nvPr/>
        </p:nvSpPr>
        <p:spPr>
          <a:xfrm>
            <a:off x="548640" y="274320"/>
            <a:ext cx="382027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Metodologia i Walidacja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DEEB61-B7EB-2268-61F9-5999157FEE40}"/>
              </a:ext>
            </a:extLst>
          </p:cNvPr>
          <p:cNvSpPr txBox="1"/>
          <p:nvPr/>
        </p:nvSpPr>
        <p:spPr>
          <a:xfrm>
            <a:off x="731520" y="1339593"/>
            <a:ext cx="4221027" cy="2763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🗓️</a:t>
            </a:r>
            <a:r>
              <a:rPr lang="pl-PL" sz="2200" b="1" dirty="0">
                <a:solidFill>
                  <a:srgbClr val="17375E"/>
                </a:solidFill>
              </a:rPr>
              <a:t>Chronologiczny podział danych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	</a:t>
            </a:r>
            <a:r>
              <a:rPr lang="pl-PL" sz="2200" i="1" dirty="0">
                <a:solidFill>
                  <a:srgbClr val="17375E"/>
                </a:solidFill>
              </a:rPr>
              <a:t>(Time-</a:t>
            </a:r>
            <a:r>
              <a:rPr lang="pl-PL" sz="2200" i="1" dirty="0" err="1">
                <a:solidFill>
                  <a:srgbClr val="17375E"/>
                </a:solidFill>
              </a:rPr>
              <a:t>Based</a:t>
            </a:r>
            <a:r>
              <a:rPr lang="pl-PL" sz="2200" i="1" dirty="0">
                <a:solidFill>
                  <a:srgbClr val="17375E"/>
                </a:solidFill>
              </a:rPr>
              <a:t> Split)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Dane podzielone według daty</a:t>
            </a:r>
            <a:r>
              <a:rPr lang="pl-PL" b="1" dirty="0">
                <a:solidFill>
                  <a:srgbClr val="464646"/>
                </a:solidFill>
              </a:rPr>
              <a:t>,</a:t>
            </a:r>
            <a:endParaRPr lang="pl-PL" dirty="0">
              <a:solidFill>
                <a:srgbClr val="464646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Punkt podziału: </a:t>
            </a:r>
            <a:r>
              <a:rPr lang="pl-PL" b="1" dirty="0">
                <a:solidFill>
                  <a:srgbClr val="464646"/>
                </a:solidFill>
              </a:rPr>
              <a:t>15.06.2015,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Dane wcześniejsze </a:t>
            </a:r>
            <a:r>
              <a:rPr lang="pl-PL" dirty="0"/>
              <a:t>→ </a:t>
            </a:r>
            <a:r>
              <a:rPr lang="pl-PL" b="1" dirty="0"/>
              <a:t>trening,</a:t>
            </a:r>
            <a:endParaRPr lang="pl-PL" dirty="0">
              <a:solidFill>
                <a:srgbClr val="464646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Dane późniejsze </a:t>
            </a:r>
            <a:r>
              <a:rPr lang="pl-PL" dirty="0"/>
              <a:t>→ </a:t>
            </a:r>
            <a:r>
              <a:rPr lang="pl-PL" b="1" dirty="0"/>
              <a:t>test,</a:t>
            </a:r>
            <a:r>
              <a:rPr lang="pl-PL" dirty="0"/>
              <a:t> 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Eliminacja zjawiska </a:t>
            </a:r>
            <a:r>
              <a:rPr lang="pl-PL" b="1" dirty="0">
                <a:solidFill>
                  <a:srgbClr val="464646"/>
                </a:solidFill>
              </a:rPr>
              <a:t>Data </a:t>
            </a:r>
            <a:r>
              <a:rPr lang="pl-PL" b="1" dirty="0" err="1">
                <a:solidFill>
                  <a:srgbClr val="464646"/>
                </a:solidFill>
              </a:rPr>
              <a:t>Leakage</a:t>
            </a:r>
            <a:r>
              <a:rPr lang="pl-PL" dirty="0">
                <a:solidFill>
                  <a:srgbClr val="464646"/>
                </a:solidFill>
              </a:rPr>
              <a:t>. 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7B68CE74-F659-37FB-178A-D95296070B01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753FDCAC-C364-DB7B-3F43-C5E00527FA6C}"/>
              </a:ext>
            </a:extLst>
          </p:cNvPr>
          <p:cNvSpPr txBox="1"/>
          <p:nvPr/>
        </p:nvSpPr>
        <p:spPr>
          <a:xfrm>
            <a:off x="6743437" y="1335642"/>
            <a:ext cx="5378395" cy="3096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200" b="1" dirty="0" err="1">
                <a:solidFill>
                  <a:srgbClr val="17375E"/>
                </a:solidFill>
              </a:rPr>
              <a:t>Pipeline</a:t>
            </a:r>
            <a:r>
              <a:rPr lang="pl-PL" sz="2200" b="1" dirty="0">
                <a:solidFill>
                  <a:srgbClr val="17375E"/>
                </a:solidFill>
              </a:rPr>
              <a:t> przetwarzania danych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Automatyzacja czyszczenia i transformacji</a:t>
            </a:r>
            <a:br>
              <a:rPr lang="pl-PL" dirty="0">
                <a:solidFill>
                  <a:srgbClr val="464646"/>
                </a:solidFill>
              </a:rPr>
            </a:br>
            <a:r>
              <a:rPr lang="pl-PL" dirty="0">
                <a:solidFill>
                  <a:srgbClr val="464646"/>
                </a:solidFill>
              </a:rPr>
              <a:t>danych,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 err="1">
                <a:solidFill>
                  <a:srgbClr val="464646"/>
                </a:solidFill>
              </a:rPr>
              <a:t>ColumnTransformer</a:t>
            </a:r>
            <a:r>
              <a:rPr lang="pl-PL" b="1" dirty="0">
                <a:solidFill>
                  <a:srgbClr val="464646"/>
                </a:solidFill>
              </a:rPr>
              <a:t>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Jednolite przygotowanie danych treningowych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       i testowych,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Powtarzalny proces dla wszystkich modeli.</a:t>
            </a:r>
            <a:br>
              <a:rPr lang="pl-PL" dirty="0">
                <a:solidFill>
                  <a:srgbClr val="464646"/>
                </a:solidFill>
              </a:rPr>
            </a:br>
            <a:r>
              <a:rPr lang="pl-PL" dirty="0">
                <a:solidFill>
                  <a:srgbClr val="464646"/>
                </a:solidFill>
              </a:rPr>
              <a:t> 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13839A75-144F-5725-B4FD-A117270F1736}"/>
              </a:ext>
            </a:extLst>
          </p:cNvPr>
          <p:cNvSpPr txBox="1"/>
          <p:nvPr/>
        </p:nvSpPr>
        <p:spPr>
          <a:xfrm>
            <a:off x="731519" y="4728919"/>
            <a:ext cx="62999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dirty="0"/>
              <a:t>🟦 TRAIN ────────────│──────────── 🟩 TEST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6190B94D-ECA4-0C64-C85B-AC0703CAF0CC}"/>
              </a:ext>
            </a:extLst>
          </p:cNvPr>
          <p:cNvSpPr txBox="1"/>
          <p:nvPr/>
        </p:nvSpPr>
        <p:spPr>
          <a:xfrm>
            <a:off x="2554016" y="4490173"/>
            <a:ext cx="1366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 15.06.2015</a:t>
            </a:r>
          </a:p>
        </p:txBody>
      </p: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C83DC0EA-A2F5-45CB-80C6-7266F04C74AE}"/>
              </a:ext>
            </a:extLst>
          </p:cNvPr>
          <p:cNvSpPr txBox="1"/>
          <p:nvPr/>
        </p:nvSpPr>
        <p:spPr>
          <a:xfrm>
            <a:off x="8297898" y="4192535"/>
            <a:ext cx="2112618" cy="2554545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pl-PL" sz="1600" dirty="0"/>
              <a:t>Surowe dane</a:t>
            </a:r>
          </a:p>
          <a:p>
            <a:r>
              <a:rPr lang="pl-PL" sz="1600" dirty="0"/>
              <a:t>      │</a:t>
            </a:r>
          </a:p>
          <a:p>
            <a:r>
              <a:rPr lang="pl-PL" sz="1600" dirty="0"/>
              <a:t>      ▼</a:t>
            </a:r>
          </a:p>
          <a:p>
            <a:r>
              <a:rPr lang="pl-PL" sz="1600" dirty="0" err="1"/>
              <a:t>ColumnTransformer</a:t>
            </a:r>
            <a:endParaRPr lang="pl-PL" sz="1600" dirty="0"/>
          </a:p>
          <a:p>
            <a:r>
              <a:rPr lang="pl-PL" sz="1600" dirty="0"/>
              <a:t>      │</a:t>
            </a:r>
          </a:p>
          <a:p>
            <a:r>
              <a:rPr lang="pl-PL" sz="1600" dirty="0"/>
              <a:t>      ▼</a:t>
            </a:r>
          </a:p>
          <a:p>
            <a:r>
              <a:rPr lang="pl-PL" sz="1600" dirty="0"/>
              <a:t>Dane po transformacji</a:t>
            </a:r>
          </a:p>
          <a:p>
            <a:r>
              <a:rPr lang="pl-PL" sz="1600" dirty="0"/>
              <a:t>      │</a:t>
            </a:r>
          </a:p>
          <a:p>
            <a:r>
              <a:rPr lang="pl-PL" sz="1600" dirty="0"/>
              <a:t>      ▼</a:t>
            </a:r>
          </a:p>
          <a:p>
            <a:r>
              <a:rPr lang="pl-PL" sz="1600" dirty="0"/>
              <a:t>Model ML</a:t>
            </a:r>
          </a:p>
        </p:txBody>
      </p:sp>
    </p:spTree>
    <p:extLst>
      <p:ext uri="{BB962C8B-B14F-4D97-AF65-F5344CB8AC3E}">
        <p14:creationId xmlns:p14="http://schemas.microsoft.com/office/powerpoint/2010/main" val="2879720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D137E-93F2-AE4B-8EB6-71CDFB638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3098FD-138F-3DB1-6913-0E6EA1C732DC}"/>
              </a:ext>
            </a:extLst>
          </p:cNvPr>
          <p:cNvSpPr txBox="1"/>
          <p:nvPr/>
        </p:nvSpPr>
        <p:spPr>
          <a:xfrm>
            <a:off x="548640" y="274320"/>
            <a:ext cx="83984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Porównanie Modeli – od </a:t>
            </a:r>
            <a:r>
              <a:rPr lang="pl-PL" sz="2800" dirty="0" err="1">
                <a:solidFill>
                  <a:srgbClr val="17375E"/>
                </a:solidFill>
              </a:rPr>
              <a:t>Baseline</a:t>
            </a:r>
            <a:r>
              <a:rPr lang="pl-PL" sz="2800" dirty="0">
                <a:solidFill>
                  <a:srgbClr val="17375E"/>
                </a:solidFill>
              </a:rPr>
              <a:t> do Machine Learning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22C51B-9958-1422-5609-1F698D3819AB}"/>
              </a:ext>
            </a:extLst>
          </p:cNvPr>
          <p:cNvSpPr txBox="1"/>
          <p:nvPr/>
        </p:nvSpPr>
        <p:spPr>
          <a:xfrm>
            <a:off x="731520" y="1339593"/>
            <a:ext cx="3534942" cy="346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🧠</a:t>
            </a:r>
            <a:r>
              <a:rPr lang="pl-PL" sz="2200" b="1" dirty="0">
                <a:solidFill>
                  <a:srgbClr val="17375E"/>
                </a:solidFill>
              </a:rPr>
              <a:t>Porównywane modele</a:t>
            </a:r>
            <a:endParaRPr lang="pl-PL" sz="2200" i="1" dirty="0">
              <a:solidFill>
                <a:srgbClr val="17375E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 err="1">
                <a:solidFill>
                  <a:srgbClr val="464646"/>
                </a:solidFill>
              </a:rPr>
              <a:t>DummyRegressor</a:t>
            </a:r>
            <a:r>
              <a:rPr lang="pl-PL" b="1" dirty="0">
                <a:solidFill>
                  <a:srgbClr val="464646"/>
                </a:solidFill>
              </a:rPr>
              <a:t> (</a:t>
            </a:r>
            <a:r>
              <a:rPr lang="pl-PL" b="1" dirty="0" err="1">
                <a:solidFill>
                  <a:srgbClr val="464646"/>
                </a:solidFill>
              </a:rPr>
              <a:t>Baseline</a:t>
            </a:r>
            <a:r>
              <a:rPr lang="pl-PL" b="1" dirty="0">
                <a:solidFill>
                  <a:srgbClr val="464646"/>
                </a:solidFill>
              </a:rPr>
              <a:t>)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      Punkt odniesienia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Model heurystyczny</a:t>
            </a:r>
          </a:p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464646"/>
                </a:solidFill>
              </a:rPr>
              <a:t>      </a:t>
            </a:r>
            <a:r>
              <a:rPr lang="pl-PL" dirty="0">
                <a:solidFill>
                  <a:srgbClr val="464646"/>
                </a:solidFill>
              </a:rPr>
              <a:t>Średnia sklep + dzień</a:t>
            </a:r>
            <a:endParaRPr lang="pl-PL" b="1" dirty="0">
              <a:solidFill>
                <a:srgbClr val="464646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 err="1">
                <a:solidFill>
                  <a:srgbClr val="464646"/>
                </a:solidFill>
              </a:rPr>
              <a:t>LinearSVR</a:t>
            </a:r>
            <a:endParaRPr lang="pl-PL" b="1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464646"/>
                </a:solidFill>
              </a:rPr>
              <a:t>      </a:t>
            </a:r>
            <a:r>
              <a:rPr lang="pl-PL" dirty="0">
                <a:solidFill>
                  <a:srgbClr val="464646"/>
                </a:solidFill>
              </a:rPr>
              <a:t>Model liniowy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 err="1">
                <a:solidFill>
                  <a:srgbClr val="464646"/>
                </a:solidFill>
              </a:rPr>
              <a:t>RandomForestRegressor</a:t>
            </a:r>
            <a:endParaRPr lang="pl-PL" b="1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464646"/>
                </a:solidFill>
              </a:rPr>
              <a:t>      </a:t>
            </a:r>
            <a:r>
              <a:rPr lang="pl-PL" dirty="0">
                <a:solidFill>
                  <a:srgbClr val="464646"/>
                </a:solidFill>
              </a:rPr>
              <a:t>Model oparty na drzewach</a:t>
            </a:r>
            <a:endParaRPr lang="pl-PL" b="1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00987D8C-72CB-70AC-4955-64ED83BC6AB9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A6E7C28F-32C2-1DDC-6FEF-5FDE63D420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683"/>
          <a:stretch>
            <a:fillRect/>
          </a:stretch>
        </p:blipFill>
        <p:spPr>
          <a:xfrm>
            <a:off x="5896303" y="706158"/>
            <a:ext cx="5339256" cy="3095402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0DEAE385-C112-094E-CD68-F95630566C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6096000" y="3762598"/>
            <a:ext cx="5339256" cy="3095402"/>
          </a:xfrm>
          <a:prstGeom prst="rect">
            <a:avLst/>
          </a:prstGeom>
        </p:spPr>
      </p:pic>
      <p:sp>
        <p:nvSpPr>
          <p:cNvPr id="10" name="pole tekstowe 9">
            <a:extLst>
              <a:ext uri="{FF2B5EF4-FFF2-40B4-BE49-F238E27FC236}">
                <a16:creationId xmlns:a16="http://schemas.microsoft.com/office/drawing/2014/main" id="{B3F59F13-5E7D-C6D8-33D3-368CABA79341}"/>
              </a:ext>
            </a:extLst>
          </p:cNvPr>
          <p:cNvSpPr txBox="1"/>
          <p:nvPr/>
        </p:nvSpPr>
        <p:spPr>
          <a:xfrm>
            <a:off x="180777" y="5182345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</a:t>
            </a:r>
            <a:r>
              <a:rPr lang="pl-PL" b="1" dirty="0" err="1">
                <a:solidFill>
                  <a:srgbClr val="17375E"/>
                </a:solidFill>
              </a:rPr>
              <a:t>Random</a:t>
            </a:r>
            <a:r>
              <a:rPr lang="pl-PL" b="1" dirty="0">
                <a:solidFill>
                  <a:srgbClr val="17375E"/>
                </a:solidFill>
              </a:rPr>
              <a:t> </a:t>
            </a:r>
            <a:r>
              <a:rPr lang="pl-PL" b="1" dirty="0" err="1">
                <a:solidFill>
                  <a:srgbClr val="17375E"/>
                </a:solidFill>
              </a:rPr>
              <a:t>Forest</a:t>
            </a:r>
            <a:r>
              <a:rPr lang="pl-PL" b="1" dirty="0">
                <a:solidFill>
                  <a:srgbClr val="17375E"/>
                </a:solidFill>
              </a:rPr>
              <a:t> (</a:t>
            </a:r>
            <a:r>
              <a:rPr lang="pl-PL" b="1" dirty="0" err="1">
                <a:solidFill>
                  <a:srgbClr val="17375E"/>
                </a:solidFill>
              </a:rPr>
              <a:t>Tuned</a:t>
            </a:r>
            <a:r>
              <a:rPr lang="pl-PL" b="1" dirty="0">
                <a:solidFill>
                  <a:srgbClr val="17375E"/>
                </a:solidFill>
              </a:rPr>
              <a:t>) </a:t>
            </a:r>
            <a:r>
              <a:rPr lang="pl-PL" b="1" dirty="0"/>
              <a:t>osiągnął najlepsze wyniki, redukując błąd o 359 € względem modelu heurystycznego</a:t>
            </a:r>
            <a:r>
              <a:rPr lang="pl-PL" dirty="0"/>
              <a:t>.</a:t>
            </a:r>
            <a:endParaRPr lang="pl-PL" b="1" dirty="0">
              <a:solidFill>
                <a:srgbClr val="1737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4576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BB940-3DED-E504-9906-7DC9DF22E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1E3B0B-247A-3594-5974-14D6E2F0AD93}"/>
              </a:ext>
            </a:extLst>
          </p:cNvPr>
          <p:cNvSpPr txBox="1"/>
          <p:nvPr/>
        </p:nvSpPr>
        <p:spPr>
          <a:xfrm>
            <a:off x="548640" y="274320"/>
            <a:ext cx="525458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Zwycięski Model – </a:t>
            </a:r>
            <a:r>
              <a:rPr lang="pl-PL" sz="2800" dirty="0" err="1">
                <a:solidFill>
                  <a:srgbClr val="17375E"/>
                </a:solidFill>
              </a:rPr>
              <a:t>Random</a:t>
            </a:r>
            <a:r>
              <a:rPr lang="pl-PL" sz="2800" dirty="0">
                <a:solidFill>
                  <a:srgbClr val="17375E"/>
                </a:solidFill>
              </a:rPr>
              <a:t> </a:t>
            </a:r>
            <a:r>
              <a:rPr lang="pl-PL" sz="2800" dirty="0" err="1">
                <a:solidFill>
                  <a:srgbClr val="17375E"/>
                </a:solidFill>
              </a:rPr>
              <a:t>Forest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8A785F-95FB-B773-6A0C-4979325ADAF1}"/>
              </a:ext>
            </a:extLst>
          </p:cNvPr>
          <p:cNvSpPr txBox="1"/>
          <p:nvPr/>
        </p:nvSpPr>
        <p:spPr>
          <a:xfrm>
            <a:off x="731520" y="1339593"/>
            <a:ext cx="4685513" cy="19882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🏆</a:t>
            </a:r>
            <a:r>
              <a:rPr lang="pl-PL" sz="2200" b="1" dirty="0">
                <a:solidFill>
                  <a:srgbClr val="17375E"/>
                </a:solidFill>
              </a:rPr>
              <a:t>Dlaczego </a:t>
            </a:r>
            <a:r>
              <a:rPr lang="pl-PL" sz="2200" b="1" dirty="0" err="1">
                <a:solidFill>
                  <a:srgbClr val="17375E"/>
                </a:solidFill>
              </a:rPr>
              <a:t>Random</a:t>
            </a:r>
            <a:r>
              <a:rPr lang="pl-PL" sz="2200" b="1" dirty="0">
                <a:solidFill>
                  <a:srgbClr val="17375E"/>
                </a:solidFill>
              </a:rPr>
              <a:t> </a:t>
            </a:r>
            <a:r>
              <a:rPr lang="pl-PL" sz="2200" b="1" dirty="0" err="1">
                <a:solidFill>
                  <a:srgbClr val="17375E"/>
                </a:solidFill>
              </a:rPr>
              <a:t>Forest</a:t>
            </a:r>
            <a:endParaRPr lang="pl-PL" sz="2200" i="1" dirty="0">
              <a:solidFill>
                <a:srgbClr val="17375E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Modeluje nieliniowe zależności,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Uwzględnia zależności między cechami, 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Wykorzystuje pełny zbiór danych,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Osiągnął najwyższą dokładność.</a:t>
            </a: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A1F34B2A-53FB-62A9-6D18-874708D14863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3001E48F-50EC-0A50-BD8D-79DA70D8C2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3012103"/>
              </p:ext>
            </p:extLst>
          </p:nvPr>
        </p:nvGraphicFramePr>
        <p:xfrm>
          <a:off x="7693573" y="3937430"/>
          <a:ext cx="2590800" cy="1828800"/>
        </p:xfrm>
        <a:graphic>
          <a:graphicData uri="http://schemas.openxmlformats.org/drawingml/2006/table">
            <a:tbl>
              <a:tblPr/>
              <a:tblGrid>
                <a:gridCol w="1295400">
                  <a:extLst>
                    <a:ext uri="{9D8B030D-6E8A-4147-A177-3AD203B41FA5}">
                      <a16:colId xmlns:a16="http://schemas.microsoft.com/office/drawing/2014/main" val="319570438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9266913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 dirty="0"/>
                        <a:t>Metryka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Wynik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4968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 dirty="0"/>
                        <a:t>MAE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898,63 €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3618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/>
                        <a:t>MAPE</a:t>
                      </a:r>
                      <a:endParaRPr lang="pl-PL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12,80 %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7994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 dirty="0"/>
                        <a:t>RMSPE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17,06 %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671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/>
                        <a:t>R²</a:t>
                      </a:r>
                      <a:endParaRPr lang="pl-PL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82,8 %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61642"/>
                  </a:ext>
                </a:extLst>
              </a:tr>
            </a:tbl>
          </a:graphicData>
        </a:graphic>
      </p:graphicFrame>
      <p:sp>
        <p:nvSpPr>
          <p:cNvPr id="9" name="TextBox 2">
            <a:extLst>
              <a:ext uri="{FF2B5EF4-FFF2-40B4-BE49-F238E27FC236}">
                <a16:creationId xmlns:a16="http://schemas.microsoft.com/office/drawing/2014/main" id="{784E7F3B-8347-1DB6-9DEA-4161CB681A05}"/>
              </a:ext>
            </a:extLst>
          </p:cNvPr>
          <p:cNvSpPr txBox="1"/>
          <p:nvPr/>
        </p:nvSpPr>
        <p:spPr>
          <a:xfrm>
            <a:off x="6409097" y="1339592"/>
            <a:ext cx="5774401" cy="12495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📈</a:t>
            </a:r>
            <a:r>
              <a:rPr lang="pl-PL" sz="2200" b="1" dirty="0">
                <a:solidFill>
                  <a:srgbClr val="17375E"/>
                </a:solidFill>
              </a:rPr>
              <a:t>Kluczowe rezultaty</a:t>
            </a:r>
            <a:endParaRPr lang="pl-PL" sz="2200" i="1" dirty="0">
              <a:solidFill>
                <a:srgbClr val="17375E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60,3% mniejszy błąd </a:t>
            </a:r>
            <a:r>
              <a:rPr lang="pl-PL" dirty="0">
                <a:solidFill>
                  <a:srgbClr val="464646"/>
                </a:solidFill>
              </a:rPr>
              <a:t>względem modelu bazowego,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82,8% wyjaśnionej wariancji sprzedaży</a:t>
            </a:r>
            <a:endParaRPr lang="pl-PL" b="1" dirty="0"/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A7DD7A71-7218-DC49-0535-CA20172BE8B4}"/>
              </a:ext>
            </a:extLst>
          </p:cNvPr>
          <p:cNvSpPr txBox="1"/>
          <p:nvPr/>
        </p:nvSpPr>
        <p:spPr>
          <a:xfrm>
            <a:off x="6409096" y="3244904"/>
            <a:ext cx="2528834" cy="4982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📊</a:t>
            </a:r>
            <a:r>
              <a:rPr lang="pl-PL" sz="2200" b="1" dirty="0">
                <a:solidFill>
                  <a:srgbClr val="17375E"/>
                </a:solidFill>
              </a:rPr>
              <a:t>Wyniki końcowe</a:t>
            </a:r>
            <a:endParaRPr lang="pl-PL" sz="2200" i="1" dirty="0">
              <a:solidFill>
                <a:srgbClr val="17375E"/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BCD115C9-6AC8-A3A9-F4B6-6CE0B60432A7}"/>
              </a:ext>
            </a:extLst>
          </p:cNvPr>
          <p:cNvSpPr txBox="1"/>
          <p:nvPr/>
        </p:nvSpPr>
        <p:spPr>
          <a:xfrm>
            <a:off x="180777" y="5182345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</a:t>
            </a:r>
            <a:r>
              <a:rPr lang="pl-PL" b="1" dirty="0" err="1"/>
              <a:t>Random</a:t>
            </a:r>
            <a:r>
              <a:rPr lang="pl-PL" b="1" dirty="0"/>
              <a:t> </a:t>
            </a:r>
            <a:r>
              <a:rPr lang="pl-PL" b="1" dirty="0" err="1"/>
              <a:t>Forest</a:t>
            </a:r>
            <a:r>
              <a:rPr lang="pl-PL" b="1" dirty="0"/>
              <a:t> osiągnął najwyższą dokładność i został wybrany jako model końcowy projektu.</a:t>
            </a:r>
            <a:endParaRPr lang="pl-PL" b="1" dirty="0">
              <a:solidFill>
                <a:srgbClr val="1737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3504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5C728-F2FA-6E66-F31C-4B2F3AAD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744CAB-8BA7-54EB-BA65-C839D00C793D}"/>
              </a:ext>
            </a:extLst>
          </p:cNvPr>
          <p:cNvSpPr txBox="1"/>
          <p:nvPr/>
        </p:nvSpPr>
        <p:spPr>
          <a:xfrm>
            <a:off x="548640" y="274320"/>
            <a:ext cx="456169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Wyzwania &amp; </a:t>
            </a:r>
            <a:r>
              <a:rPr lang="pl-PL" sz="2800" dirty="0" err="1">
                <a:solidFill>
                  <a:srgbClr val="17375E"/>
                </a:solidFill>
              </a:rPr>
              <a:t>Lessons</a:t>
            </a:r>
            <a:r>
              <a:rPr lang="pl-PL" sz="2800" dirty="0">
                <a:solidFill>
                  <a:srgbClr val="17375E"/>
                </a:solidFill>
              </a:rPr>
              <a:t> </a:t>
            </a:r>
            <a:r>
              <a:rPr lang="pl-PL" sz="2800" dirty="0" err="1">
                <a:solidFill>
                  <a:srgbClr val="17375E"/>
                </a:solidFill>
              </a:rPr>
              <a:t>Learned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E7C7DB-55C6-8194-7253-486040E4D76E}"/>
              </a:ext>
            </a:extLst>
          </p:cNvPr>
          <p:cNvSpPr txBox="1"/>
          <p:nvPr/>
        </p:nvSpPr>
        <p:spPr>
          <a:xfrm>
            <a:off x="731520" y="1117522"/>
            <a:ext cx="4985660" cy="468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200" b="1" dirty="0">
                <a:solidFill>
                  <a:srgbClr val="17375E"/>
                </a:solidFill>
              </a:rPr>
              <a:t>Wyzwania techniczne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Problem</a:t>
            </a:r>
            <a:endParaRPr lang="pl-PL" sz="2200" dirty="0">
              <a:solidFill>
                <a:srgbClr val="17375E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Trening modeli SVR czasochłonny,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Wysokie wymagania obliczeniowe pełnego</a:t>
            </a:r>
            <a:br>
              <a:rPr lang="pl-PL" dirty="0">
                <a:solidFill>
                  <a:srgbClr val="464646"/>
                </a:solidFill>
              </a:rPr>
            </a:br>
            <a:r>
              <a:rPr lang="pl-PL" dirty="0">
                <a:solidFill>
                  <a:srgbClr val="464646"/>
                </a:solidFill>
              </a:rPr>
              <a:t>zbioru.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Rozwiązanie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 err="1">
                <a:solidFill>
                  <a:srgbClr val="464646"/>
                </a:solidFill>
              </a:rPr>
              <a:t>Samplowanie</a:t>
            </a:r>
            <a:r>
              <a:rPr lang="pl-PL" sz="2000" dirty="0">
                <a:solidFill>
                  <a:srgbClr val="464646"/>
                </a:solidFill>
              </a:rPr>
              <a:t> do </a:t>
            </a:r>
            <a:r>
              <a:rPr lang="pl-PL" sz="2000" b="1" dirty="0">
                <a:solidFill>
                  <a:srgbClr val="464646"/>
                </a:solidFill>
              </a:rPr>
              <a:t>50 tys. rekordów</a:t>
            </a:r>
            <a:r>
              <a:rPr lang="pl-PL" sz="2000" dirty="0">
                <a:solidFill>
                  <a:srgbClr val="464646"/>
                </a:solidFill>
              </a:rPr>
              <a:t>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Zastosowanie </a:t>
            </a:r>
            <a:r>
              <a:rPr lang="pl-PL" sz="2000" b="1" dirty="0" err="1">
                <a:solidFill>
                  <a:srgbClr val="464646"/>
                </a:solidFill>
              </a:rPr>
              <a:t>LinearSVR</a:t>
            </a:r>
            <a:r>
              <a:rPr lang="pl-PL" sz="2000" dirty="0">
                <a:solidFill>
                  <a:srgbClr val="464646"/>
                </a:solidFill>
              </a:rPr>
              <a:t>.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Wniosek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Modele liniowe ustępowały </a:t>
            </a:r>
            <a:r>
              <a:rPr lang="pl-PL" sz="2000" dirty="0" err="1">
                <a:solidFill>
                  <a:srgbClr val="464646"/>
                </a:solidFill>
              </a:rPr>
              <a:t>Random</a:t>
            </a:r>
            <a:br>
              <a:rPr lang="pl-PL" sz="2000" dirty="0">
                <a:solidFill>
                  <a:srgbClr val="464646"/>
                </a:solidFill>
              </a:rPr>
            </a:br>
            <a:r>
              <a:rPr lang="pl-PL" sz="2000" dirty="0" err="1">
                <a:solidFill>
                  <a:srgbClr val="464646"/>
                </a:solidFill>
              </a:rPr>
              <a:t>Forest</a:t>
            </a:r>
            <a:r>
              <a:rPr lang="pl-PL" sz="2000" dirty="0">
                <a:solidFill>
                  <a:srgbClr val="464646"/>
                </a:solidFill>
              </a:rPr>
              <a:t> pod względem jakości.</a:t>
            </a:r>
          </a:p>
          <a:p>
            <a:pPr>
              <a:lnSpc>
                <a:spcPct val="120000"/>
              </a:lnSpc>
              <a:defRPr sz="2000"/>
            </a:pP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BFC2BF44-D802-1E01-14EA-2256012F508F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D131C967-5F83-16EE-E45F-DD04052A4ED7}"/>
              </a:ext>
            </a:extLst>
          </p:cNvPr>
          <p:cNvSpPr txBox="1"/>
          <p:nvPr/>
        </p:nvSpPr>
        <p:spPr>
          <a:xfrm>
            <a:off x="6409097" y="1117521"/>
            <a:ext cx="4840941" cy="35763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🌿</a:t>
            </a:r>
            <a:r>
              <a:rPr lang="pl-PL" sz="2200" b="1" dirty="0">
                <a:solidFill>
                  <a:srgbClr val="17375E"/>
                </a:solidFill>
              </a:rPr>
              <a:t>Wyzwania zespołowe</a:t>
            </a:r>
            <a:endParaRPr lang="pl-PL" sz="2200" i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Problem</a:t>
            </a:r>
            <a:endParaRPr lang="pl-PL" sz="2200" dirty="0">
              <a:solidFill>
                <a:srgbClr val="17375E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Koordynacja pracy na wielu </a:t>
            </a:r>
            <a:r>
              <a:rPr lang="pl-PL" sz="2000" dirty="0" err="1">
                <a:solidFill>
                  <a:srgbClr val="464646"/>
                </a:solidFill>
              </a:rPr>
              <a:t>branchach</a:t>
            </a:r>
            <a:r>
              <a:rPr lang="pl-PL" sz="2000" dirty="0">
                <a:solidFill>
                  <a:srgbClr val="464646"/>
                </a:solidFill>
              </a:rPr>
              <a:t>.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 err="1">
                <a:solidFill>
                  <a:srgbClr val="464646"/>
                </a:solidFill>
              </a:rPr>
              <a:t>Merge</a:t>
            </a:r>
            <a:r>
              <a:rPr lang="pl-PL" sz="2000" dirty="0">
                <a:solidFill>
                  <a:srgbClr val="464646"/>
                </a:solidFill>
              </a:rPr>
              <a:t> </a:t>
            </a:r>
            <a:r>
              <a:rPr lang="pl-PL" sz="2000" dirty="0" err="1">
                <a:solidFill>
                  <a:srgbClr val="464646"/>
                </a:solidFill>
              </a:rPr>
              <a:t>conficts</a:t>
            </a:r>
            <a:r>
              <a:rPr lang="pl-PL" sz="2000" dirty="0">
                <a:solidFill>
                  <a:srgbClr val="464646"/>
                </a:solidFill>
              </a:rPr>
              <a:t>.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Rozwiązanie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Lepsze </a:t>
            </a:r>
            <a:r>
              <a:rPr lang="pl-PL" sz="2000" b="1" dirty="0">
                <a:solidFill>
                  <a:srgbClr val="464646"/>
                </a:solidFill>
              </a:rPr>
              <a:t>nazewnictwo</a:t>
            </a:r>
            <a:r>
              <a:rPr lang="pl-PL" sz="2000" dirty="0">
                <a:solidFill>
                  <a:srgbClr val="464646"/>
                </a:solidFill>
              </a:rPr>
              <a:t> </a:t>
            </a:r>
            <a:r>
              <a:rPr lang="pl-PL" sz="2000" dirty="0" err="1">
                <a:solidFill>
                  <a:srgbClr val="464646"/>
                </a:solidFill>
              </a:rPr>
              <a:t>branchy</a:t>
            </a:r>
            <a:r>
              <a:rPr lang="pl-PL" sz="2000" dirty="0">
                <a:solidFill>
                  <a:srgbClr val="464646"/>
                </a:solidFill>
              </a:rPr>
              <a:t>.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b="1" dirty="0" err="1">
                <a:solidFill>
                  <a:srgbClr val="464646"/>
                </a:solidFill>
              </a:rPr>
              <a:t>Pull</a:t>
            </a:r>
            <a:r>
              <a:rPr lang="pl-PL" sz="2000" b="1" dirty="0">
                <a:solidFill>
                  <a:srgbClr val="464646"/>
                </a:solidFill>
              </a:rPr>
              <a:t> </a:t>
            </a:r>
            <a:r>
              <a:rPr lang="pl-PL" sz="2000" b="1" dirty="0" err="1">
                <a:solidFill>
                  <a:srgbClr val="464646"/>
                </a:solidFill>
              </a:rPr>
              <a:t>Request</a:t>
            </a:r>
            <a:r>
              <a:rPr lang="pl-PL" sz="2000" b="1" dirty="0">
                <a:solidFill>
                  <a:srgbClr val="464646"/>
                </a:solidFill>
              </a:rPr>
              <a:t> + </a:t>
            </a:r>
            <a:r>
              <a:rPr lang="pl-PL" sz="2000" b="1" dirty="0" err="1">
                <a:solidFill>
                  <a:srgbClr val="464646"/>
                </a:solidFill>
              </a:rPr>
              <a:t>Code</a:t>
            </a:r>
            <a:r>
              <a:rPr lang="pl-PL" sz="2000" b="1" dirty="0">
                <a:solidFill>
                  <a:srgbClr val="464646"/>
                </a:solidFill>
              </a:rPr>
              <a:t> </a:t>
            </a:r>
            <a:r>
              <a:rPr lang="pl-PL" sz="2000" b="1" dirty="0" err="1">
                <a:solidFill>
                  <a:srgbClr val="464646"/>
                </a:solidFill>
              </a:rPr>
              <a:t>Review</a:t>
            </a:r>
            <a:r>
              <a:rPr lang="pl-PL" sz="2000" b="1" dirty="0">
                <a:solidFill>
                  <a:srgbClr val="464646"/>
                </a:solidFill>
              </a:rPr>
              <a:t>, JIRA </a:t>
            </a:r>
            <a:r>
              <a:rPr lang="pl-PL" sz="2000" b="1" dirty="0" err="1">
                <a:solidFill>
                  <a:srgbClr val="464646"/>
                </a:solidFill>
              </a:rPr>
              <a:t>tickets</a:t>
            </a:r>
            <a:r>
              <a:rPr lang="pl-PL" sz="2000" dirty="0">
                <a:solidFill>
                  <a:srgbClr val="464646"/>
                </a:solidFill>
              </a:rPr>
              <a:t>.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Wniosek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Lepsza organizacja pracy zespołowej.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8C6754C6-F1D2-540C-ED31-B24551806B55}"/>
              </a:ext>
            </a:extLst>
          </p:cNvPr>
          <p:cNvSpPr txBox="1"/>
          <p:nvPr/>
        </p:nvSpPr>
        <p:spPr>
          <a:xfrm>
            <a:off x="180777" y="5728933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Projekt dostarczył cennego doświadczenia technicznego</a:t>
            </a:r>
          </a:p>
          <a:p>
            <a:pPr algn="ctr"/>
            <a:r>
              <a:rPr lang="pl-PL" b="1" dirty="0"/>
              <a:t> i zespołowego.</a:t>
            </a:r>
            <a:endParaRPr lang="pl-PL" b="1" dirty="0">
              <a:solidFill>
                <a:srgbClr val="17375E"/>
              </a:solidFill>
            </a:endParaRP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831D9B61-DA27-D648-C235-534A002441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143" t="32330" r="34214" b="37394"/>
          <a:stretch>
            <a:fillRect/>
          </a:stretch>
        </p:blipFill>
        <p:spPr>
          <a:xfrm>
            <a:off x="6474822" y="5063217"/>
            <a:ext cx="4210595" cy="1596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748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8315-88E4-A7EE-348C-4FBB2F31A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414A00A-6FE6-F9E1-16BC-20C25688358F}"/>
              </a:ext>
            </a:extLst>
          </p:cNvPr>
          <p:cNvSpPr txBox="1"/>
          <p:nvPr/>
        </p:nvSpPr>
        <p:spPr>
          <a:xfrm>
            <a:off x="548640" y="274320"/>
            <a:ext cx="533312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Wpływ Biznesowy i Rekomendacje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3D3CD3-6E57-9C67-E6D4-03AFCA87BC0F}"/>
              </a:ext>
            </a:extLst>
          </p:cNvPr>
          <p:cNvSpPr txBox="1"/>
          <p:nvPr/>
        </p:nvSpPr>
        <p:spPr>
          <a:xfrm>
            <a:off x="731520" y="1404908"/>
            <a:ext cx="5280613" cy="438889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📈</a:t>
            </a:r>
            <a:r>
              <a:rPr lang="pl-PL" sz="2200" b="1" dirty="0">
                <a:solidFill>
                  <a:srgbClr val="17375E"/>
                </a:solidFill>
              </a:rPr>
              <a:t>Wpływ biznesowy</a:t>
            </a:r>
          </a:p>
          <a:p>
            <a:pPr>
              <a:lnSpc>
                <a:spcPct val="120000"/>
              </a:lnSpc>
              <a:defRPr sz="2000"/>
            </a:pPr>
            <a:endParaRPr lang="pl-PL" sz="2200" b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📦</a:t>
            </a:r>
            <a:r>
              <a:rPr lang="pl-PL" sz="2200" b="1" dirty="0">
                <a:solidFill>
                  <a:srgbClr val="17375E"/>
                </a:solidFill>
              </a:rPr>
              <a:t>Optymalizacja dostaw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Lepsze planowanie dostaw do sklepów,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Mniejsze ryzyko braków towarów podczas</a:t>
            </a:r>
            <a:br>
              <a:rPr lang="pl-PL" dirty="0">
                <a:solidFill>
                  <a:srgbClr val="464646"/>
                </a:solidFill>
              </a:rPr>
            </a:br>
            <a:r>
              <a:rPr lang="pl-PL" dirty="0">
                <a:solidFill>
                  <a:srgbClr val="464646"/>
                </a:solidFill>
              </a:rPr>
              <a:t>promocji.</a:t>
            </a:r>
          </a:p>
          <a:p>
            <a:pPr>
              <a:lnSpc>
                <a:spcPct val="120000"/>
              </a:lnSpc>
              <a:defRPr sz="2000"/>
            </a:pPr>
            <a:endParaRPr lang="pl-PL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💰</a:t>
            </a:r>
            <a:r>
              <a:rPr lang="pl-PL" sz="2200" b="1" dirty="0">
                <a:solidFill>
                  <a:srgbClr val="17375E"/>
                </a:solidFill>
              </a:rPr>
              <a:t>Efektywność kapitałowa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Lepsze zarządzanie zapasami,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Mniejsze zamrożenie kapitału w magazynach.</a:t>
            </a:r>
          </a:p>
          <a:p>
            <a:pPr>
              <a:lnSpc>
                <a:spcPct val="120000"/>
              </a:lnSpc>
              <a:defRPr sz="2000"/>
            </a:pP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4ED0141B-B903-D8FE-1EEF-C85E016A0BC8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ACB30247-AE6F-66E4-5EA7-284CD1DDA600}"/>
              </a:ext>
            </a:extLst>
          </p:cNvPr>
          <p:cNvSpPr txBox="1"/>
          <p:nvPr/>
        </p:nvSpPr>
        <p:spPr>
          <a:xfrm>
            <a:off x="6260568" y="2208810"/>
            <a:ext cx="4376519" cy="12495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🚀</a:t>
            </a:r>
            <a:r>
              <a:rPr lang="pl-PL" sz="2200" b="1" dirty="0">
                <a:solidFill>
                  <a:srgbClr val="17375E"/>
                </a:solidFill>
              </a:rPr>
              <a:t>Rekomendacja</a:t>
            </a:r>
            <a:endParaRPr lang="pl-PL" sz="2200" i="1" dirty="0">
              <a:solidFill>
                <a:srgbClr val="17375E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Wdrożenie modelu </a:t>
            </a:r>
            <a:r>
              <a:rPr lang="pl-PL" sz="2000" b="1" dirty="0" err="1">
                <a:solidFill>
                  <a:srgbClr val="464646"/>
                </a:solidFill>
              </a:rPr>
              <a:t>Random</a:t>
            </a:r>
            <a:r>
              <a:rPr lang="pl-PL" sz="2000" b="1" dirty="0">
                <a:solidFill>
                  <a:srgbClr val="464646"/>
                </a:solidFill>
              </a:rPr>
              <a:t> </a:t>
            </a:r>
            <a:r>
              <a:rPr lang="pl-PL" sz="2000" b="1" dirty="0" err="1">
                <a:solidFill>
                  <a:srgbClr val="464646"/>
                </a:solidFill>
              </a:rPr>
              <a:t>Forest</a:t>
            </a:r>
            <a:r>
              <a:rPr lang="pl-PL" sz="2000" dirty="0">
                <a:solidFill>
                  <a:srgbClr val="464646"/>
                </a:solidFill>
              </a:rPr>
              <a:t>,</a:t>
            </a:r>
            <a:endParaRPr lang="pl-PL" sz="2000" b="1" dirty="0">
              <a:solidFill>
                <a:srgbClr val="464646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Pilotaż w środowisku produkcyjnym</a:t>
            </a:r>
            <a:r>
              <a:rPr lang="pl-PL" sz="2000" b="1" dirty="0">
                <a:solidFill>
                  <a:srgbClr val="464646"/>
                </a:solidFill>
              </a:rPr>
              <a:t>.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D5BDDF7B-DB82-3F95-3DDC-6AEFEF6A03B6}"/>
              </a:ext>
            </a:extLst>
          </p:cNvPr>
          <p:cNvSpPr txBox="1"/>
          <p:nvPr/>
        </p:nvSpPr>
        <p:spPr>
          <a:xfrm>
            <a:off x="3371826" y="5728933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Model może usprawnić planowanie sprzedaży </a:t>
            </a:r>
          </a:p>
          <a:p>
            <a:pPr algn="ctr"/>
            <a:r>
              <a:rPr lang="pl-PL" b="1" dirty="0"/>
              <a:t>i zarządzanie zapasami.</a:t>
            </a:r>
            <a:endParaRPr lang="pl-PL" b="1" dirty="0">
              <a:solidFill>
                <a:srgbClr val="1737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9567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CC7D4-D1DF-9E66-4C5E-BE0646F5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309165-7FFF-2C89-9A93-BB1D3CCE0DB9}"/>
              </a:ext>
            </a:extLst>
          </p:cNvPr>
          <p:cNvSpPr txBox="1"/>
          <p:nvPr/>
        </p:nvSpPr>
        <p:spPr>
          <a:xfrm>
            <a:off x="548640" y="274320"/>
            <a:ext cx="371287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Dalsze kroki (</a:t>
            </a:r>
            <a:r>
              <a:rPr lang="pl-PL" sz="2800" dirty="0" err="1">
                <a:solidFill>
                  <a:srgbClr val="17375E"/>
                </a:solidFill>
              </a:rPr>
              <a:t>Roadmap</a:t>
            </a:r>
            <a:r>
              <a:rPr lang="pl-PL" sz="2800" dirty="0">
                <a:solidFill>
                  <a:srgbClr val="17375E"/>
                </a:solidFill>
              </a:rPr>
              <a:t>)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DC7104-BCCD-8CF1-045B-4523B1B9817A}"/>
              </a:ext>
            </a:extLst>
          </p:cNvPr>
          <p:cNvSpPr txBox="1"/>
          <p:nvPr/>
        </p:nvSpPr>
        <p:spPr>
          <a:xfrm>
            <a:off x="731520" y="1404908"/>
            <a:ext cx="4299575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🚀</a:t>
            </a:r>
            <a:r>
              <a:rPr lang="pl-PL" sz="2200" b="1" dirty="0">
                <a:solidFill>
                  <a:srgbClr val="17375E"/>
                </a:solidFill>
              </a:rPr>
              <a:t>Rozwój modeli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Testy </a:t>
            </a:r>
            <a:r>
              <a:rPr lang="pl-PL" dirty="0" err="1">
                <a:solidFill>
                  <a:srgbClr val="464646"/>
                </a:solidFill>
              </a:rPr>
              <a:t>XGBoost</a:t>
            </a:r>
            <a:r>
              <a:rPr lang="pl-PL" dirty="0">
                <a:solidFill>
                  <a:srgbClr val="464646"/>
                </a:solidFill>
              </a:rPr>
              <a:t> i </a:t>
            </a:r>
            <a:r>
              <a:rPr lang="pl-PL" dirty="0" err="1">
                <a:solidFill>
                  <a:srgbClr val="464646"/>
                </a:solidFill>
              </a:rPr>
              <a:t>LightGBM</a:t>
            </a:r>
            <a:endParaRPr lang="pl-PL" dirty="0">
              <a:solidFill>
                <a:srgbClr val="464646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Porównanie jakości i czasu predykcji</a:t>
            </a:r>
          </a:p>
          <a:p>
            <a:pPr>
              <a:lnSpc>
                <a:spcPct val="120000"/>
              </a:lnSpc>
              <a:defRPr sz="2000"/>
            </a:pPr>
            <a:endParaRPr lang="pl-PL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🌍</a:t>
            </a:r>
            <a:r>
              <a:rPr lang="pl-PL" sz="2200" b="1" dirty="0">
                <a:solidFill>
                  <a:srgbClr val="17375E"/>
                </a:solidFill>
              </a:rPr>
              <a:t>Nowe źródła danych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Pogoda,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Dane makroekonomiczne,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Święta i wydarzenia lokalne.</a:t>
            </a:r>
          </a:p>
          <a:p>
            <a:pPr>
              <a:lnSpc>
                <a:spcPct val="120000"/>
              </a:lnSpc>
              <a:defRPr sz="2000"/>
            </a:pP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C4976A09-49A9-6592-120A-F672DF550A86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52DCEBD-1DEC-011F-67CA-EE8030CEACCC}"/>
              </a:ext>
            </a:extLst>
          </p:cNvPr>
          <p:cNvSpPr txBox="1"/>
          <p:nvPr/>
        </p:nvSpPr>
        <p:spPr>
          <a:xfrm>
            <a:off x="6260568" y="2208810"/>
            <a:ext cx="4204997" cy="12495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200" b="1" dirty="0">
                <a:solidFill>
                  <a:srgbClr val="17375E"/>
                </a:solidFill>
              </a:rPr>
              <a:t>Automatyzacja</a:t>
            </a:r>
            <a:endParaRPr lang="pl-PL" sz="2200" i="1" dirty="0">
              <a:solidFill>
                <a:srgbClr val="17375E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Comiesięczny </a:t>
            </a:r>
            <a:r>
              <a:rPr lang="pl-PL" sz="2000" dirty="0" err="1">
                <a:solidFill>
                  <a:srgbClr val="464646"/>
                </a:solidFill>
              </a:rPr>
              <a:t>retraining</a:t>
            </a:r>
            <a:r>
              <a:rPr lang="pl-PL" sz="2000" dirty="0">
                <a:solidFill>
                  <a:srgbClr val="464646"/>
                </a:solidFill>
              </a:rPr>
              <a:t> modelu,</a:t>
            </a:r>
            <a:endParaRPr lang="pl-PL" sz="2000" b="1" dirty="0">
              <a:solidFill>
                <a:srgbClr val="464646"/>
              </a:solidFill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Automatyczny </a:t>
            </a:r>
            <a:r>
              <a:rPr lang="pl-PL" sz="2000" dirty="0" err="1">
                <a:solidFill>
                  <a:srgbClr val="464646"/>
                </a:solidFill>
              </a:rPr>
              <a:t>pipeline</a:t>
            </a:r>
            <a:r>
              <a:rPr lang="pl-PL" sz="2000" dirty="0">
                <a:solidFill>
                  <a:srgbClr val="464646"/>
                </a:solidFill>
              </a:rPr>
              <a:t> </a:t>
            </a:r>
            <a:r>
              <a:rPr lang="pl-PL" sz="2000" dirty="0" err="1">
                <a:solidFill>
                  <a:srgbClr val="464646"/>
                </a:solidFill>
              </a:rPr>
              <a:t>retrainingu</a:t>
            </a:r>
            <a:r>
              <a:rPr lang="pl-PL" sz="2000" dirty="0">
                <a:solidFill>
                  <a:srgbClr val="464646"/>
                </a:solidFill>
              </a:rPr>
              <a:t>.</a:t>
            </a:r>
            <a:endParaRPr lang="pl-PL" sz="2000" b="1" dirty="0">
              <a:solidFill>
                <a:srgbClr val="464646"/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4119CBC8-445F-4657-83EF-D4F78AF373D6}"/>
              </a:ext>
            </a:extLst>
          </p:cNvPr>
          <p:cNvSpPr txBox="1"/>
          <p:nvPr/>
        </p:nvSpPr>
        <p:spPr>
          <a:xfrm>
            <a:off x="3371826" y="5728933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Projekt stanowi solidną podstawę do dalszego rozwoju systemu prognozowania sprzedaży.</a:t>
            </a:r>
            <a:endParaRPr lang="pl-PL" b="1" dirty="0">
              <a:solidFill>
                <a:srgbClr val="1737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20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76C9-A6B1-0DB5-8FC2-A6232A69E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353088-BD9B-13F6-4EF6-CC08CBE0B4EF}"/>
              </a:ext>
            </a:extLst>
          </p:cNvPr>
          <p:cNvSpPr txBox="1"/>
          <p:nvPr/>
        </p:nvSpPr>
        <p:spPr>
          <a:xfrm>
            <a:off x="548640" y="274320"/>
            <a:ext cx="7409401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3800" dirty="0">
                <a:solidFill>
                  <a:srgbClr val="17375E"/>
                </a:solidFill>
              </a:rPr>
              <a:t>Predykcja Popytu w Sieci Rossmann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47E8AF-C05E-9A81-6B3B-EDEB3674E571}"/>
              </a:ext>
            </a:extLst>
          </p:cNvPr>
          <p:cNvSpPr txBox="1"/>
          <p:nvPr/>
        </p:nvSpPr>
        <p:spPr>
          <a:xfrm>
            <a:off x="4555812" y="2988879"/>
            <a:ext cx="2600392" cy="14489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3800" dirty="0"/>
              <a:t>❓</a:t>
            </a:r>
            <a:r>
              <a:rPr lang="pl-PL" sz="3800" b="1" dirty="0">
                <a:solidFill>
                  <a:srgbClr val="17375E"/>
                </a:solidFill>
              </a:rPr>
              <a:t>Pytania?</a:t>
            </a:r>
          </a:p>
          <a:p>
            <a:pPr>
              <a:lnSpc>
                <a:spcPct val="120000"/>
              </a:lnSpc>
              <a:defRPr sz="2000"/>
            </a:pPr>
            <a:endParaRPr lang="pl-PL" sz="3800" dirty="0"/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578D6C14-ED5F-4C3A-30F7-1140B3596795}"/>
              </a:ext>
            </a:extLst>
          </p:cNvPr>
          <p:cNvSpPr/>
          <p:nvPr/>
        </p:nvSpPr>
        <p:spPr>
          <a:xfrm>
            <a:off x="580170" y="893620"/>
            <a:ext cx="10881360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99317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</TotalTime>
  <Words>1475</Words>
  <Application>Microsoft Office PowerPoint</Application>
  <PresentationFormat>Panoramiczny</PresentationFormat>
  <Paragraphs>188</Paragraphs>
  <Slides>10</Slides>
  <Notes>9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Jan Nowak</dc:creator>
  <cp:keywords/>
  <dc:description>generated using python-pptx</dc:description>
  <cp:lastModifiedBy>Jan Nowak</cp:lastModifiedBy>
  <cp:revision>26</cp:revision>
  <dcterms:created xsi:type="dcterms:W3CDTF">2013-01-27T09:14:16Z</dcterms:created>
  <dcterms:modified xsi:type="dcterms:W3CDTF">2026-07-26T16:35:04Z</dcterms:modified>
  <cp:category/>
</cp:coreProperties>
</file>